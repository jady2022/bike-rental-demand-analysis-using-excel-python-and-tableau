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9" r:id="rId4"/>
    <p:sldId id="263" r:id="rId5"/>
    <p:sldId id="262" r:id="rId6"/>
    <p:sldId id="260" r:id="rId7"/>
    <p:sldId id="268" r:id="rId8"/>
    <p:sldId id="269" r:id="rId9"/>
    <p:sldId id="272" r:id="rId10"/>
    <p:sldId id="2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417"/>
    <p:restoredTop sz="68844"/>
  </p:normalViewPr>
  <p:slideViewPr>
    <p:cSldViewPr snapToGrid="0">
      <p:cViewPr>
        <p:scale>
          <a:sx n="57" d="100"/>
          <a:sy n="57" d="100"/>
        </p:scale>
        <p:origin x="2696"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A4751-CA6E-114D-9E0A-275EDFE989B1}" type="datetimeFigureOut">
              <a:rPr lang="en-US" smtClean="0"/>
              <a:t>11/30/25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723949-2348-3D4F-B149-4508A9BBD102}" type="slidenum">
              <a:rPr lang="en-US" smtClean="0"/>
              <a:t>‹#›</a:t>
            </a:fld>
            <a:endParaRPr lang="en-US"/>
          </a:p>
        </p:txBody>
      </p:sp>
    </p:spTree>
    <p:extLst>
      <p:ext uri="{BB962C8B-B14F-4D97-AF65-F5344CB8AC3E}">
        <p14:creationId xmlns:p14="http://schemas.microsoft.com/office/powerpoint/2010/main" val="4258772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Hi everyone. Today, I’ll be presenting an analysis on bike rental prediction using a dataset from the UCI Machine Learning Repository. The goal is to model and predict the target variable—CNT—which represents the total number of bike rentals per day.</a:t>
            </a:r>
            <a:endParaRPr lang="en-US" sz="1800" kern="100" dirty="0">
              <a:effectLst/>
              <a:latin typeface="Aptos" panose="020B0004020202020204" pitchFamily="34" charset="0"/>
              <a:ea typeface="DengXian" panose="02010600030101010101" pitchFamily="2" charset="-122"/>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DF723949-2348-3D4F-B149-4508A9BBD102}" type="slidenum">
              <a:rPr lang="en-US" smtClean="0"/>
              <a:t>1</a:t>
            </a:fld>
            <a:endParaRPr lang="en-US"/>
          </a:p>
        </p:txBody>
      </p:sp>
    </p:spTree>
    <p:extLst>
      <p:ext uri="{BB962C8B-B14F-4D97-AF65-F5344CB8AC3E}">
        <p14:creationId xmlns:p14="http://schemas.microsoft.com/office/powerpoint/2010/main" val="789889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First, I used Tableau to explore how the overall trend of bike rentals fluctuated weekly. This helps identify any consistent patterns or trends that might affect rental behavior.</a:t>
            </a:r>
            <a:endParaRPr lang="en-US" sz="18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Since it's reasonable to assume that people are more likely to go out or travel during holidays, I added the "Holiday" variable to the visualization. To further explore potential behavioral differences, I broke the data down into two user types: registered and casual. </a:t>
            </a:r>
            <a:endParaRPr lang="en-US" dirty="0"/>
          </a:p>
        </p:txBody>
      </p:sp>
      <p:sp>
        <p:nvSpPr>
          <p:cNvPr id="4" name="Slide Number Placeholder 3"/>
          <p:cNvSpPr>
            <a:spLocks noGrp="1"/>
          </p:cNvSpPr>
          <p:nvPr>
            <p:ph type="sldNum" sz="quarter" idx="5"/>
          </p:nvPr>
        </p:nvSpPr>
        <p:spPr/>
        <p:txBody>
          <a:bodyPr/>
          <a:lstStyle/>
          <a:p>
            <a:fld id="{DF723949-2348-3D4F-B149-4508A9BBD102}" type="slidenum">
              <a:rPr lang="en-US" smtClean="0"/>
              <a:t>2</a:t>
            </a:fld>
            <a:endParaRPr lang="en-US"/>
          </a:p>
        </p:txBody>
      </p:sp>
    </p:spTree>
    <p:extLst>
      <p:ext uri="{BB962C8B-B14F-4D97-AF65-F5344CB8AC3E}">
        <p14:creationId xmlns:p14="http://schemas.microsoft.com/office/powerpoint/2010/main" val="2692944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This allowed me to observe which group might be more sensitive to holidays.</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a:p>
            <a:r>
              <a:rPr lang="en-US" dirty="0"/>
              <a:t>To get more details, I also created comparative bar charts</a:t>
            </a:r>
          </a:p>
        </p:txBody>
      </p:sp>
      <p:sp>
        <p:nvSpPr>
          <p:cNvPr id="4" name="Slide Number Placeholder 3"/>
          <p:cNvSpPr>
            <a:spLocks noGrp="1"/>
          </p:cNvSpPr>
          <p:nvPr>
            <p:ph type="sldNum" sz="quarter" idx="5"/>
          </p:nvPr>
        </p:nvSpPr>
        <p:spPr/>
        <p:txBody>
          <a:bodyPr/>
          <a:lstStyle/>
          <a:p>
            <a:fld id="{DF723949-2348-3D4F-B149-4508A9BBD102}" type="slidenum">
              <a:rPr lang="en-US" smtClean="0"/>
              <a:t>3</a:t>
            </a:fld>
            <a:endParaRPr lang="en-US"/>
          </a:p>
        </p:txBody>
      </p:sp>
    </p:spTree>
    <p:extLst>
      <p:ext uri="{BB962C8B-B14F-4D97-AF65-F5344CB8AC3E}">
        <p14:creationId xmlns:p14="http://schemas.microsoft.com/office/powerpoint/2010/main" val="1722352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on the left we see that working days have more total rentals, so people rent bikes mainly for working and commuting purposes instead of hanging out or travelling.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On the right, while registered users dominant the pattern during non holidays,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travelers from other cities or countries.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I then moved on to explore seasonality and temperature. </a:t>
            </a:r>
            <a:endParaRPr lang="en-US" sz="1800" kern="100" dirty="0">
              <a:effectLst/>
              <a:latin typeface="Aptos" panose="020B0004020202020204" pitchFamily="34" charset="0"/>
              <a:ea typeface="DengXian" panose="02010600030101010101" pitchFamily="2" charset="-122"/>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DF723949-2348-3D4F-B149-4508A9BBD102}" type="slidenum">
              <a:rPr lang="en-US" smtClean="0"/>
              <a:t>4</a:t>
            </a:fld>
            <a:endParaRPr lang="en-US"/>
          </a:p>
        </p:txBody>
      </p:sp>
    </p:spTree>
    <p:extLst>
      <p:ext uri="{BB962C8B-B14F-4D97-AF65-F5344CB8AC3E}">
        <p14:creationId xmlns:p14="http://schemas.microsoft.com/office/powerpoint/2010/main" val="24363216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dual axis line chart</a:t>
            </a:r>
          </a:p>
          <a:p>
            <a:endParaRPr lang="en-US" dirty="0"/>
          </a:p>
          <a:p>
            <a:endParaRPr lang="en-US" dirty="0"/>
          </a:p>
          <a:p>
            <a:r>
              <a:rPr lang="en-US" dirty="0"/>
              <a:t>To validate this idea, I broke rentals down by season and weather condition</a:t>
            </a:r>
          </a:p>
        </p:txBody>
      </p:sp>
      <p:sp>
        <p:nvSpPr>
          <p:cNvPr id="4" name="Slide Number Placeholder 3"/>
          <p:cNvSpPr>
            <a:spLocks noGrp="1"/>
          </p:cNvSpPr>
          <p:nvPr>
            <p:ph type="sldNum" sz="quarter" idx="5"/>
          </p:nvPr>
        </p:nvSpPr>
        <p:spPr/>
        <p:txBody>
          <a:bodyPr/>
          <a:lstStyle/>
          <a:p>
            <a:fld id="{DF723949-2348-3D4F-B149-4508A9BBD102}" type="slidenum">
              <a:rPr lang="en-US" smtClean="0"/>
              <a:t>5</a:t>
            </a:fld>
            <a:endParaRPr lang="en-US"/>
          </a:p>
        </p:txBody>
      </p:sp>
    </p:spTree>
    <p:extLst>
      <p:ext uri="{BB962C8B-B14F-4D97-AF65-F5344CB8AC3E}">
        <p14:creationId xmlns:p14="http://schemas.microsoft.com/office/powerpoint/2010/main" val="3270565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723949-2348-3D4F-B149-4508A9BBD102}" type="slidenum">
              <a:rPr lang="en-US" smtClean="0"/>
              <a:t>6</a:t>
            </a:fld>
            <a:endParaRPr lang="en-US"/>
          </a:p>
        </p:txBody>
      </p:sp>
    </p:spTree>
    <p:extLst>
      <p:ext uri="{BB962C8B-B14F-4D97-AF65-F5344CB8AC3E}">
        <p14:creationId xmlns:p14="http://schemas.microsoft.com/office/powerpoint/2010/main" val="33545546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During feature selection, I dropped several variables:</a:t>
            </a:r>
            <a:endParaRPr lang="en-US" sz="1800" kern="100" dirty="0">
              <a:effectLst/>
              <a:latin typeface="Aptos" panose="020B0004020202020204" pitchFamily="34" charset="0"/>
              <a:ea typeface="DengXian" panose="02010600030101010101" pitchFamily="2" charset="-122"/>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DF723949-2348-3D4F-B149-4508A9BBD102}" type="slidenum">
              <a:rPr lang="en-US" smtClean="0"/>
              <a:t>7</a:t>
            </a:fld>
            <a:endParaRPr lang="en-US"/>
          </a:p>
        </p:txBody>
      </p:sp>
    </p:spTree>
    <p:extLst>
      <p:ext uri="{BB962C8B-B14F-4D97-AF65-F5344CB8AC3E}">
        <p14:creationId xmlns:p14="http://schemas.microsoft.com/office/powerpoint/2010/main" val="450070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After filtering, I finalized the variables shown here.</a:t>
            </a:r>
            <a:endParaRPr lang="en-US" sz="1800" kern="100" dirty="0">
              <a:effectLst/>
              <a:latin typeface="Aptos" panose="020B0004020202020204" pitchFamily="34" charset="0"/>
              <a:ea typeface="DengXian" panose="02010600030101010101" pitchFamily="2" charset="-122"/>
              <a:cs typeface="Times New Roman" panose="02020603050405020304" pitchFamily="18" charset="0"/>
            </a:endParaRPr>
          </a:p>
          <a:p>
            <a:pPr marL="0" marR="0">
              <a:lnSpc>
                <a:spcPct val="115000"/>
              </a:lnSpc>
              <a:spcAft>
                <a:spcPts val="800"/>
              </a:spcAft>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For modeling, I split the dataset into training and testing sets:</a:t>
            </a:r>
            <a:endParaRPr lang="en-US" sz="1800" kern="100" dirty="0">
              <a:effectLst/>
              <a:latin typeface="Aptos" panose="020B0004020202020204" pitchFamily="34" charset="0"/>
              <a:ea typeface="DengXian" panose="02010600030101010101" pitchFamily="2" charset="-122"/>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DF723949-2348-3D4F-B149-4508A9BBD102}" type="slidenum">
              <a:rPr lang="en-US" smtClean="0"/>
              <a:t>8</a:t>
            </a:fld>
            <a:endParaRPr lang="en-US"/>
          </a:p>
        </p:txBody>
      </p:sp>
    </p:spTree>
    <p:extLst>
      <p:ext uri="{BB962C8B-B14F-4D97-AF65-F5344CB8AC3E}">
        <p14:creationId xmlns:p14="http://schemas.microsoft.com/office/powerpoint/2010/main" val="3287056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In this project, I compared three models to forecast bike rentals over a two-week horizon: Holt-Winters Exponential Smoothing, Prophet, and Linear Regression.</a:t>
            </a:r>
          </a:p>
          <a:p>
            <a:pPr>
              <a:buNone/>
            </a:pPr>
            <a:r>
              <a:rPr lang="en-US" dirty="0"/>
              <a:t>Holt-Winters, while simple and fast, captured slight sudden demand drops like holidays.</a:t>
            </a:r>
          </a:p>
          <a:p>
            <a:pPr>
              <a:buNone/>
            </a:pPr>
            <a:r>
              <a:rPr lang="en-US" dirty="0"/>
              <a:t>Prophet captured sharp drops and behavioral shifts—such as during holidays—but struggled to model the overall trend accurately</a:t>
            </a:r>
          </a:p>
          <a:p>
            <a:pPr>
              <a:buNone/>
            </a:pPr>
            <a:r>
              <a:rPr lang="en-US" dirty="0"/>
              <a:t>Linear Regression, although not a traditional time series model, outperformed both. It excluded direct time variables to avoid leakage, and instead relied on external drivers like temperature, humidity, and weekday. These contextual features captured the demand patterns well.</a:t>
            </a:r>
          </a:p>
          <a:p>
            <a:r>
              <a:rPr lang="en-US" dirty="0"/>
              <a:t>This shows that when feature engineering is done well, a simple model like Linear Regression can outperform more complex time series models. In this case, it proved to be the most interpretable and effective option for short-term operational forecasting.</a:t>
            </a:r>
          </a:p>
        </p:txBody>
      </p:sp>
      <p:sp>
        <p:nvSpPr>
          <p:cNvPr id="4" name="Slide Number Placeholder 3"/>
          <p:cNvSpPr>
            <a:spLocks noGrp="1"/>
          </p:cNvSpPr>
          <p:nvPr>
            <p:ph type="sldNum" sz="quarter" idx="5"/>
          </p:nvPr>
        </p:nvSpPr>
        <p:spPr/>
        <p:txBody>
          <a:bodyPr/>
          <a:lstStyle/>
          <a:p>
            <a:fld id="{DF723949-2348-3D4F-B149-4508A9BBD102}" type="slidenum">
              <a:rPr lang="en-US" smtClean="0"/>
              <a:t>9</a:t>
            </a:fld>
            <a:endParaRPr lang="en-US"/>
          </a:p>
        </p:txBody>
      </p:sp>
    </p:spTree>
    <p:extLst>
      <p:ext uri="{BB962C8B-B14F-4D97-AF65-F5344CB8AC3E}">
        <p14:creationId xmlns:p14="http://schemas.microsoft.com/office/powerpoint/2010/main" val="2485126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4E7F-C8E6-48B8-8E5F-0491F50431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FB1939-258A-858F-F9A2-069AEA148D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E34DB91-26A1-9514-FEA3-C1F157A6A25D}"/>
              </a:ext>
            </a:extLst>
          </p:cNvPr>
          <p:cNvSpPr>
            <a:spLocks noGrp="1"/>
          </p:cNvSpPr>
          <p:nvPr>
            <p:ph type="dt" sz="half" idx="10"/>
          </p:nvPr>
        </p:nvSpPr>
        <p:spPr/>
        <p:txBody>
          <a:bodyPr/>
          <a:lstStyle/>
          <a:p>
            <a:fld id="{04518484-E0F6-D443-9356-15B5ABCDB1F4}" type="datetimeFigureOut">
              <a:rPr lang="en-US" smtClean="0"/>
              <a:t>11/30/25</a:t>
            </a:fld>
            <a:endParaRPr lang="en-US"/>
          </a:p>
        </p:txBody>
      </p:sp>
      <p:sp>
        <p:nvSpPr>
          <p:cNvPr id="5" name="Footer Placeholder 4">
            <a:extLst>
              <a:ext uri="{FF2B5EF4-FFF2-40B4-BE49-F238E27FC236}">
                <a16:creationId xmlns:a16="http://schemas.microsoft.com/office/drawing/2014/main" id="{F4896D93-0F95-D542-0BDD-4BF5C4269E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E9A828-F7DD-02B4-3A6B-2CFE7E4F2A84}"/>
              </a:ext>
            </a:extLst>
          </p:cNvPr>
          <p:cNvSpPr>
            <a:spLocks noGrp="1"/>
          </p:cNvSpPr>
          <p:nvPr>
            <p:ph type="sldNum" sz="quarter" idx="12"/>
          </p:nvPr>
        </p:nvSpPr>
        <p:spPr/>
        <p:txBody>
          <a:bodyPr/>
          <a:lstStyle/>
          <a:p>
            <a:fld id="{EA39C999-B215-184A-BFDA-72663FC22B0D}" type="slidenum">
              <a:rPr lang="en-US" smtClean="0"/>
              <a:t>‹#›</a:t>
            </a:fld>
            <a:endParaRPr lang="en-US"/>
          </a:p>
        </p:txBody>
      </p:sp>
    </p:spTree>
    <p:extLst>
      <p:ext uri="{BB962C8B-B14F-4D97-AF65-F5344CB8AC3E}">
        <p14:creationId xmlns:p14="http://schemas.microsoft.com/office/powerpoint/2010/main" val="3961707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453BE-2603-0CEC-BEE2-2CA19E1CAC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9E508B-145A-5B21-A06B-F1BE666C2E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336BE2-E1EE-C3B9-66AF-038C32F6DC72}"/>
              </a:ext>
            </a:extLst>
          </p:cNvPr>
          <p:cNvSpPr>
            <a:spLocks noGrp="1"/>
          </p:cNvSpPr>
          <p:nvPr>
            <p:ph type="dt" sz="half" idx="10"/>
          </p:nvPr>
        </p:nvSpPr>
        <p:spPr/>
        <p:txBody>
          <a:bodyPr/>
          <a:lstStyle/>
          <a:p>
            <a:fld id="{04518484-E0F6-D443-9356-15B5ABCDB1F4}" type="datetimeFigureOut">
              <a:rPr lang="en-US" smtClean="0"/>
              <a:t>11/30/25</a:t>
            </a:fld>
            <a:endParaRPr lang="en-US"/>
          </a:p>
        </p:txBody>
      </p:sp>
      <p:sp>
        <p:nvSpPr>
          <p:cNvPr id="5" name="Footer Placeholder 4">
            <a:extLst>
              <a:ext uri="{FF2B5EF4-FFF2-40B4-BE49-F238E27FC236}">
                <a16:creationId xmlns:a16="http://schemas.microsoft.com/office/drawing/2014/main" id="{313A8629-FCE1-ECA6-CE5F-56091420BC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C5CF68-9121-B758-0F8C-E33737F21FFC}"/>
              </a:ext>
            </a:extLst>
          </p:cNvPr>
          <p:cNvSpPr>
            <a:spLocks noGrp="1"/>
          </p:cNvSpPr>
          <p:nvPr>
            <p:ph type="sldNum" sz="quarter" idx="12"/>
          </p:nvPr>
        </p:nvSpPr>
        <p:spPr/>
        <p:txBody>
          <a:bodyPr/>
          <a:lstStyle/>
          <a:p>
            <a:fld id="{EA39C999-B215-184A-BFDA-72663FC22B0D}" type="slidenum">
              <a:rPr lang="en-US" smtClean="0"/>
              <a:t>‹#›</a:t>
            </a:fld>
            <a:endParaRPr lang="en-US"/>
          </a:p>
        </p:txBody>
      </p:sp>
    </p:spTree>
    <p:extLst>
      <p:ext uri="{BB962C8B-B14F-4D97-AF65-F5344CB8AC3E}">
        <p14:creationId xmlns:p14="http://schemas.microsoft.com/office/powerpoint/2010/main" val="765498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B212A-802A-B1C0-985A-404F8985E3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042D5E-32DD-C52E-34A1-0A3D85439D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F30413-FD7F-12EA-EBDE-39EF34E999AF}"/>
              </a:ext>
            </a:extLst>
          </p:cNvPr>
          <p:cNvSpPr>
            <a:spLocks noGrp="1"/>
          </p:cNvSpPr>
          <p:nvPr>
            <p:ph type="dt" sz="half" idx="10"/>
          </p:nvPr>
        </p:nvSpPr>
        <p:spPr/>
        <p:txBody>
          <a:bodyPr/>
          <a:lstStyle/>
          <a:p>
            <a:fld id="{04518484-E0F6-D443-9356-15B5ABCDB1F4}" type="datetimeFigureOut">
              <a:rPr lang="en-US" smtClean="0"/>
              <a:t>11/30/25</a:t>
            </a:fld>
            <a:endParaRPr lang="en-US"/>
          </a:p>
        </p:txBody>
      </p:sp>
      <p:sp>
        <p:nvSpPr>
          <p:cNvPr id="5" name="Footer Placeholder 4">
            <a:extLst>
              <a:ext uri="{FF2B5EF4-FFF2-40B4-BE49-F238E27FC236}">
                <a16:creationId xmlns:a16="http://schemas.microsoft.com/office/drawing/2014/main" id="{101F79C4-AE01-358F-140F-46A3D5DD9D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49C5A8-1DD1-15DC-E0A1-42EA3CE6ABBF}"/>
              </a:ext>
            </a:extLst>
          </p:cNvPr>
          <p:cNvSpPr>
            <a:spLocks noGrp="1"/>
          </p:cNvSpPr>
          <p:nvPr>
            <p:ph type="sldNum" sz="quarter" idx="12"/>
          </p:nvPr>
        </p:nvSpPr>
        <p:spPr/>
        <p:txBody>
          <a:bodyPr/>
          <a:lstStyle/>
          <a:p>
            <a:fld id="{EA39C999-B215-184A-BFDA-72663FC22B0D}" type="slidenum">
              <a:rPr lang="en-US" smtClean="0"/>
              <a:t>‹#›</a:t>
            </a:fld>
            <a:endParaRPr lang="en-US"/>
          </a:p>
        </p:txBody>
      </p:sp>
    </p:spTree>
    <p:extLst>
      <p:ext uri="{BB962C8B-B14F-4D97-AF65-F5344CB8AC3E}">
        <p14:creationId xmlns:p14="http://schemas.microsoft.com/office/powerpoint/2010/main" val="3215631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9A875-2C39-F67C-7113-CB54CB40AB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25BD78-DA81-B794-57A0-3D2B885E3C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306A054-90A5-A7B5-100C-2AE535FED6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3D0691-39B6-77E6-1830-23C607C844D7}"/>
              </a:ext>
            </a:extLst>
          </p:cNvPr>
          <p:cNvSpPr>
            <a:spLocks noGrp="1"/>
          </p:cNvSpPr>
          <p:nvPr>
            <p:ph type="dt" sz="half" idx="10"/>
          </p:nvPr>
        </p:nvSpPr>
        <p:spPr/>
        <p:txBody>
          <a:bodyPr/>
          <a:lstStyle/>
          <a:p>
            <a:fld id="{04518484-E0F6-D443-9356-15B5ABCDB1F4}" type="datetimeFigureOut">
              <a:rPr lang="en-US" smtClean="0"/>
              <a:t>11/30/25</a:t>
            </a:fld>
            <a:endParaRPr lang="en-US"/>
          </a:p>
        </p:txBody>
      </p:sp>
      <p:sp>
        <p:nvSpPr>
          <p:cNvPr id="6" name="Footer Placeholder 5">
            <a:extLst>
              <a:ext uri="{FF2B5EF4-FFF2-40B4-BE49-F238E27FC236}">
                <a16:creationId xmlns:a16="http://schemas.microsoft.com/office/drawing/2014/main" id="{69582E25-DAB9-F939-E357-164A078D11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5CBD58-79F3-2120-0A71-B50A9561D4F1}"/>
              </a:ext>
            </a:extLst>
          </p:cNvPr>
          <p:cNvSpPr>
            <a:spLocks noGrp="1"/>
          </p:cNvSpPr>
          <p:nvPr>
            <p:ph type="sldNum" sz="quarter" idx="12"/>
          </p:nvPr>
        </p:nvSpPr>
        <p:spPr/>
        <p:txBody>
          <a:bodyPr/>
          <a:lstStyle/>
          <a:p>
            <a:fld id="{EA39C999-B215-184A-BFDA-72663FC22B0D}" type="slidenum">
              <a:rPr lang="en-US" smtClean="0"/>
              <a:t>‹#›</a:t>
            </a:fld>
            <a:endParaRPr lang="en-US"/>
          </a:p>
        </p:txBody>
      </p:sp>
    </p:spTree>
    <p:extLst>
      <p:ext uri="{BB962C8B-B14F-4D97-AF65-F5344CB8AC3E}">
        <p14:creationId xmlns:p14="http://schemas.microsoft.com/office/powerpoint/2010/main" val="267297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7B34B-6809-E956-D671-3D5F5B6725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899327D-AE18-5029-71C6-4D6CC82F63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BE858B-3BFA-2DFC-66F1-66BDF18B84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795DF7-AD1E-7903-AE2A-2EDF2E660D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76E8AF-667E-8C9F-C40D-7653388BCF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97E119-1575-2F61-5B1C-E80F69A53D32}"/>
              </a:ext>
            </a:extLst>
          </p:cNvPr>
          <p:cNvSpPr>
            <a:spLocks noGrp="1"/>
          </p:cNvSpPr>
          <p:nvPr>
            <p:ph type="dt" sz="half" idx="10"/>
          </p:nvPr>
        </p:nvSpPr>
        <p:spPr/>
        <p:txBody>
          <a:bodyPr/>
          <a:lstStyle/>
          <a:p>
            <a:fld id="{04518484-E0F6-D443-9356-15B5ABCDB1F4}" type="datetimeFigureOut">
              <a:rPr lang="en-US" smtClean="0"/>
              <a:t>11/30/25</a:t>
            </a:fld>
            <a:endParaRPr lang="en-US"/>
          </a:p>
        </p:txBody>
      </p:sp>
      <p:sp>
        <p:nvSpPr>
          <p:cNvPr id="8" name="Footer Placeholder 7">
            <a:extLst>
              <a:ext uri="{FF2B5EF4-FFF2-40B4-BE49-F238E27FC236}">
                <a16:creationId xmlns:a16="http://schemas.microsoft.com/office/drawing/2014/main" id="{1F5699D4-7339-CC9E-2707-FA35C44884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F0DBA5-3FA9-D3F4-A5BB-B38C1519BA34}"/>
              </a:ext>
            </a:extLst>
          </p:cNvPr>
          <p:cNvSpPr>
            <a:spLocks noGrp="1"/>
          </p:cNvSpPr>
          <p:nvPr>
            <p:ph type="sldNum" sz="quarter" idx="12"/>
          </p:nvPr>
        </p:nvSpPr>
        <p:spPr/>
        <p:txBody>
          <a:bodyPr/>
          <a:lstStyle/>
          <a:p>
            <a:fld id="{EA39C999-B215-184A-BFDA-72663FC22B0D}" type="slidenum">
              <a:rPr lang="en-US" smtClean="0"/>
              <a:t>‹#›</a:t>
            </a:fld>
            <a:endParaRPr lang="en-US"/>
          </a:p>
        </p:txBody>
      </p:sp>
    </p:spTree>
    <p:extLst>
      <p:ext uri="{BB962C8B-B14F-4D97-AF65-F5344CB8AC3E}">
        <p14:creationId xmlns:p14="http://schemas.microsoft.com/office/powerpoint/2010/main" val="4262091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21966-E7C9-B83C-21A0-D571C7C988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4CC72E-58CB-FFC4-39CB-78ED4B74CECE}"/>
              </a:ext>
            </a:extLst>
          </p:cNvPr>
          <p:cNvSpPr>
            <a:spLocks noGrp="1"/>
          </p:cNvSpPr>
          <p:nvPr>
            <p:ph type="dt" sz="half" idx="10"/>
          </p:nvPr>
        </p:nvSpPr>
        <p:spPr/>
        <p:txBody>
          <a:bodyPr/>
          <a:lstStyle/>
          <a:p>
            <a:fld id="{04518484-E0F6-D443-9356-15B5ABCDB1F4}" type="datetimeFigureOut">
              <a:rPr lang="en-US" smtClean="0"/>
              <a:t>11/30/25</a:t>
            </a:fld>
            <a:endParaRPr lang="en-US"/>
          </a:p>
        </p:txBody>
      </p:sp>
      <p:sp>
        <p:nvSpPr>
          <p:cNvPr id="4" name="Footer Placeholder 3">
            <a:extLst>
              <a:ext uri="{FF2B5EF4-FFF2-40B4-BE49-F238E27FC236}">
                <a16:creationId xmlns:a16="http://schemas.microsoft.com/office/drawing/2014/main" id="{12D25D5F-7395-BBC8-0EB1-E619D8F7410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9C0C83-7F72-F078-EA47-EF6C8FB2FC1E}"/>
              </a:ext>
            </a:extLst>
          </p:cNvPr>
          <p:cNvSpPr>
            <a:spLocks noGrp="1"/>
          </p:cNvSpPr>
          <p:nvPr>
            <p:ph type="sldNum" sz="quarter" idx="12"/>
          </p:nvPr>
        </p:nvSpPr>
        <p:spPr/>
        <p:txBody>
          <a:bodyPr/>
          <a:lstStyle/>
          <a:p>
            <a:fld id="{EA39C999-B215-184A-BFDA-72663FC22B0D}" type="slidenum">
              <a:rPr lang="en-US" smtClean="0"/>
              <a:t>‹#›</a:t>
            </a:fld>
            <a:endParaRPr lang="en-US"/>
          </a:p>
        </p:txBody>
      </p:sp>
    </p:spTree>
    <p:extLst>
      <p:ext uri="{BB962C8B-B14F-4D97-AF65-F5344CB8AC3E}">
        <p14:creationId xmlns:p14="http://schemas.microsoft.com/office/powerpoint/2010/main" val="4200566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D6E622-5960-8C0F-0443-B728FA922D0B}"/>
              </a:ext>
            </a:extLst>
          </p:cNvPr>
          <p:cNvSpPr>
            <a:spLocks noGrp="1"/>
          </p:cNvSpPr>
          <p:nvPr>
            <p:ph type="dt" sz="half" idx="10"/>
          </p:nvPr>
        </p:nvSpPr>
        <p:spPr/>
        <p:txBody>
          <a:bodyPr/>
          <a:lstStyle/>
          <a:p>
            <a:fld id="{04518484-E0F6-D443-9356-15B5ABCDB1F4}" type="datetimeFigureOut">
              <a:rPr lang="en-US" smtClean="0"/>
              <a:t>11/30/25</a:t>
            </a:fld>
            <a:endParaRPr lang="en-US"/>
          </a:p>
        </p:txBody>
      </p:sp>
      <p:sp>
        <p:nvSpPr>
          <p:cNvPr id="3" name="Footer Placeholder 2">
            <a:extLst>
              <a:ext uri="{FF2B5EF4-FFF2-40B4-BE49-F238E27FC236}">
                <a16:creationId xmlns:a16="http://schemas.microsoft.com/office/drawing/2014/main" id="{21F01FC7-0FA1-A057-90AE-8C5512785F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C6060D-4901-3326-3786-1712EEC1E5F6}"/>
              </a:ext>
            </a:extLst>
          </p:cNvPr>
          <p:cNvSpPr>
            <a:spLocks noGrp="1"/>
          </p:cNvSpPr>
          <p:nvPr>
            <p:ph type="sldNum" sz="quarter" idx="12"/>
          </p:nvPr>
        </p:nvSpPr>
        <p:spPr/>
        <p:txBody>
          <a:bodyPr/>
          <a:lstStyle/>
          <a:p>
            <a:fld id="{EA39C999-B215-184A-BFDA-72663FC22B0D}" type="slidenum">
              <a:rPr lang="en-US" smtClean="0"/>
              <a:t>‹#›</a:t>
            </a:fld>
            <a:endParaRPr lang="en-US"/>
          </a:p>
        </p:txBody>
      </p:sp>
    </p:spTree>
    <p:extLst>
      <p:ext uri="{BB962C8B-B14F-4D97-AF65-F5344CB8AC3E}">
        <p14:creationId xmlns:p14="http://schemas.microsoft.com/office/powerpoint/2010/main" val="1648763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70316-752B-AD49-F0B4-3F8ACD02B3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C05F3F-8FBC-8DA9-F390-F00DF53F31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102017-8032-780A-ECDF-B41BB91754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740971-68AC-A90C-09E2-7267645117C4}"/>
              </a:ext>
            </a:extLst>
          </p:cNvPr>
          <p:cNvSpPr>
            <a:spLocks noGrp="1"/>
          </p:cNvSpPr>
          <p:nvPr>
            <p:ph type="dt" sz="half" idx="10"/>
          </p:nvPr>
        </p:nvSpPr>
        <p:spPr/>
        <p:txBody>
          <a:bodyPr/>
          <a:lstStyle/>
          <a:p>
            <a:fld id="{04518484-E0F6-D443-9356-15B5ABCDB1F4}" type="datetimeFigureOut">
              <a:rPr lang="en-US" smtClean="0"/>
              <a:t>11/30/25</a:t>
            </a:fld>
            <a:endParaRPr lang="en-US"/>
          </a:p>
        </p:txBody>
      </p:sp>
      <p:sp>
        <p:nvSpPr>
          <p:cNvPr id="6" name="Footer Placeholder 5">
            <a:extLst>
              <a:ext uri="{FF2B5EF4-FFF2-40B4-BE49-F238E27FC236}">
                <a16:creationId xmlns:a16="http://schemas.microsoft.com/office/drawing/2014/main" id="{1D58184B-4FFF-D514-430A-D61C38A083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8B1BB5-2FC8-AF06-98F2-B066044A0CF7}"/>
              </a:ext>
            </a:extLst>
          </p:cNvPr>
          <p:cNvSpPr>
            <a:spLocks noGrp="1"/>
          </p:cNvSpPr>
          <p:nvPr>
            <p:ph type="sldNum" sz="quarter" idx="12"/>
          </p:nvPr>
        </p:nvSpPr>
        <p:spPr/>
        <p:txBody>
          <a:bodyPr/>
          <a:lstStyle/>
          <a:p>
            <a:fld id="{EA39C999-B215-184A-BFDA-72663FC22B0D}" type="slidenum">
              <a:rPr lang="en-US" smtClean="0"/>
              <a:t>‹#›</a:t>
            </a:fld>
            <a:endParaRPr lang="en-US"/>
          </a:p>
        </p:txBody>
      </p:sp>
    </p:spTree>
    <p:extLst>
      <p:ext uri="{BB962C8B-B14F-4D97-AF65-F5344CB8AC3E}">
        <p14:creationId xmlns:p14="http://schemas.microsoft.com/office/powerpoint/2010/main" val="2810040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751A4-23D2-7140-7FF9-D020FFABB9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8049A0-5C9F-961A-8BEC-67CB43CADF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8CC286-01BD-92D6-6A44-49758073C1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7EB299-B3F1-5953-553A-BDA49624F49B}"/>
              </a:ext>
            </a:extLst>
          </p:cNvPr>
          <p:cNvSpPr>
            <a:spLocks noGrp="1"/>
          </p:cNvSpPr>
          <p:nvPr>
            <p:ph type="dt" sz="half" idx="10"/>
          </p:nvPr>
        </p:nvSpPr>
        <p:spPr/>
        <p:txBody>
          <a:bodyPr/>
          <a:lstStyle/>
          <a:p>
            <a:fld id="{04518484-E0F6-D443-9356-15B5ABCDB1F4}" type="datetimeFigureOut">
              <a:rPr lang="en-US" smtClean="0"/>
              <a:t>11/30/25</a:t>
            </a:fld>
            <a:endParaRPr lang="en-US"/>
          </a:p>
        </p:txBody>
      </p:sp>
      <p:sp>
        <p:nvSpPr>
          <p:cNvPr id="6" name="Footer Placeholder 5">
            <a:extLst>
              <a:ext uri="{FF2B5EF4-FFF2-40B4-BE49-F238E27FC236}">
                <a16:creationId xmlns:a16="http://schemas.microsoft.com/office/drawing/2014/main" id="{0374AC14-176B-255B-708C-785EE80A1C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D0243E-5B34-559B-8616-6AB667582457}"/>
              </a:ext>
            </a:extLst>
          </p:cNvPr>
          <p:cNvSpPr>
            <a:spLocks noGrp="1"/>
          </p:cNvSpPr>
          <p:nvPr>
            <p:ph type="sldNum" sz="quarter" idx="12"/>
          </p:nvPr>
        </p:nvSpPr>
        <p:spPr/>
        <p:txBody>
          <a:bodyPr/>
          <a:lstStyle/>
          <a:p>
            <a:fld id="{EA39C999-B215-184A-BFDA-72663FC22B0D}" type="slidenum">
              <a:rPr lang="en-US" smtClean="0"/>
              <a:t>‹#›</a:t>
            </a:fld>
            <a:endParaRPr lang="en-US"/>
          </a:p>
        </p:txBody>
      </p:sp>
    </p:spTree>
    <p:extLst>
      <p:ext uri="{BB962C8B-B14F-4D97-AF65-F5344CB8AC3E}">
        <p14:creationId xmlns:p14="http://schemas.microsoft.com/office/powerpoint/2010/main" val="3568603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6205E-14E2-3840-4323-2AF1D943D3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270692-DA08-A770-1EBF-BA2C099112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B8BDDD-2CCD-AC1A-5F10-45E91BCA8FFA}"/>
              </a:ext>
            </a:extLst>
          </p:cNvPr>
          <p:cNvSpPr>
            <a:spLocks noGrp="1"/>
          </p:cNvSpPr>
          <p:nvPr>
            <p:ph type="dt" sz="half" idx="10"/>
          </p:nvPr>
        </p:nvSpPr>
        <p:spPr/>
        <p:txBody>
          <a:bodyPr/>
          <a:lstStyle/>
          <a:p>
            <a:fld id="{04518484-E0F6-D443-9356-15B5ABCDB1F4}" type="datetimeFigureOut">
              <a:rPr lang="en-US" smtClean="0"/>
              <a:t>11/30/25</a:t>
            </a:fld>
            <a:endParaRPr lang="en-US"/>
          </a:p>
        </p:txBody>
      </p:sp>
      <p:sp>
        <p:nvSpPr>
          <p:cNvPr id="5" name="Footer Placeholder 4">
            <a:extLst>
              <a:ext uri="{FF2B5EF4-FFF2-40B4-BE49-F238E27FC236}">
                <a16:creationId xmlns:a16="http://schemas.microsoft.com/office/drawing/2014/main" id="{F405F2BC-1B2C-3C21-24C2-3167F61767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FF43DE-D95D-E503-67F4-F54C318FFFFB}"/>
              </a:ext>
            </a:extLst>
          </p:cNvPr>
          <p:cNvSpPr>
            <a:spLocks noGrp="1"/>
          </p:cNvSpPr>
          <p:nvPr>
            <p:ph type="sldNum" sz="quarter" idx="12"/>
          </p:nvPr>
        </p:nvSpPr>
        <p:spPr/>
        <p:txBody>
          <a:bodyPr/>
          <a:lstStyle/>
          <a:p>
            <a:fld id="{EA39C999-B215-184A-BFDA-72663FC22B0D}" type="slidenum">
              <a:rPr lang="en-US" smtClean="0"/>
              <a:t>‹#›</a:t>
            </a:fld>
            <a:endParaRPr lang="en-US"/>
          </a:p>
        </p:txBody>
      </p:sp>
    </p:spTree>
    <p:extLst>
      <p:ext uri="{BB962C8B-B14F-4D97-AF65-F5344CB8AC3E}">
        <p14:creationId xmlns:p14="http://schemas.microsoft.com/office/powerpoint/2010/main" val="1290679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A344FE-EE8F-980F-085E-3F371A10B7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9EAE26E-E37A-7668-CF99-A3735275D4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AF5D90-84EC-27F6-2481-9513D78DF48F}"/>
              </a:ext>
            </a:extLst>
          </p:cNvPr>
          <p:cNvSpPr>
            <a:spLocks noGrp="1"/>
          </p:cNvSpPr>
          <p:nvPr>
            <p:ph type="dt" sz="half" idx="10"/>
          </p:nvPr>
        </p:nvSpPr>
        <p:spPr/>
        <p:txBody>
          <a:bodyPr/>
          <a:lstStyle/>
          <a:p>
            <a:fld id="{04518484-E0F6-D443-9356-15B5ABCDB1F4}" type="datetimeFigureOut">
              <a:rPr lang="en-US" smtClean="0"/>
              <a:t>11/30/25</a:t>
            </a:fld>
            <a:endParaRPr lang="en-US"/>
          </a:p>
        </p:txBody>
      </p:sp>
      <p:sp>
        <p:nvSpPr>
          <p:cNvPr id="5" name="Footer Placeholder 4">
            <a:extLst>
              <a:ext uri="{FF2B5EF4-FFF2-40B4-BE49-F238E27FC236}">
                <a16:creationId xmlns:a16="http://schemas.microsoft.com/office/drawing/2014/main" id="{724C2B4E-8FC4-0F49-820C-16C71118E2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1484EC-29BD-A6ED-F23F-5DE92810390E}"/>
              </a:ext>
            </a:extLst>
          </p:cNvPr>
          <p:cNvSpPr>
            <a:spLocks noGrp="1"/>
          </p:cNvSpPr>
          <p:nvPr>
            <p:ph type="sldNum" sz="quarter" idx="12"/>
          </p:nvPr>
        </p:nvSpPr>
        <p:spPr/>
        <p:txBody>
          <a:bodyPr/>
          <a:lstStyle/>
          <a:p>
            <a:fld id="{EA39C999-B215-184A-BFDA-72663FC22B0D}" type="slidenum">
              <a:rPr lang="en-US" smtClean="0"/>
              <a:t>‹#›</a:t>
            </a:fld>
            <a:endParaRPr lang="en-US"/>
          </a:p>
        </p:txBody>
      </p:sp>
    </p:spTree>
    <p:extLst>
      <p:ext uri="{BB962C8B-B14F-4D97-AF65-F5344CB8AC3E}">
        <p14:creationId xmlns:p14="http://schemas.microsoft.com/office/powerpoint/2010/main" val="1916974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1FD2B1-1A08-8ED2-C835-8516546EA1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E08B45E-B0CF-E04B-7806-CE73E4224E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75BEAD-6EA4-7231-F165-3D221DF377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518484-E0F6-D443-9356-15B5ABCDB1F4}" type="datetimeFigureOut">
              <a:rPr lang="en-US" smtClean="0"/>
              <a:t>11/30/25</a:t>
            </a:fld>
            <a:endParaRPr lang="en-US"/>
          </a:p>
        </p:txBody>
      </p:sp>
      <p:sp>
        <p:nvSpPr>
          <p:cNvPr id="5" name="Footer Placeholder 4">
            <a:extLst>
              <a:ext uri="{FF2B5EF4-FFF2-40B4-BE49-F238E27FC236}">
                <a16:creationId xmlns:a16="http://schemas.microsoft.com/office/drawing/2014/main" id="{0697C62E-0450-2F84-10B6-8A9F2BA92E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2100905-5050-78A2-0E9C-0F89897A9E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39C999-B215-184A-BFDA-72663FC22B0D}" type="slidenum">
              <a:rPr lang="en-US" smtClean="0"/>
              <a:t>‹#›</a:t>
            </a:fld>
            <a:endParaRPr lang="en-US"/>
          </a:p>
        </p:txBody>
      </p:sp>
    </p:spTree>
    <p:extLst>
      <p:ext uri="{BB962C8B-B14F-4D97-AF65-F5344CB8AC3E}">
        <p14:creationId xmlns:p14="http://schemas.microsoft.com/office/powerpoint/2010/main" val="1173898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1" name="Rectangle 100">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2" name="Rectangle 10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Freeform: Shape 9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0" name="Rectangle 9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6C241A-42DD-E9CC-C81C-6F514B2C768A}"/>
              </a:ext>
            </a:extLst>
          </p:cNvPr>
          <p:cNvSpPr>
            <a:spLocks noGrp="1"/>
          </p:cNvSpPr>
          <p:nvPr>
            <p:ph type="ctrTitle"/>
          </p:nvPr>
        </p:nvSpPr>
        <p:spPr>
          <a:xfrm>
            <a:off x="3318072" y="168031"/>
            <a:ext cx="5555856" cy="937154"/>
          </a:xfrm>
        </p:spPr>
        <p:txBody>
          <a:bodyPr vert="horz" lIns="91440" tIns="45720" rIns="91440" bIns="45720" rtlCol="0" anchor="b">
            <a:noAutofit/>
          </a:bodyPr>
          <a:lstStyle/>
          <a:p>
            <a:pPr>
              <a:lnSpc>
                <a:spcPct val="150000"/>
              </a:lnSpc>
            </a:pPr>
            <a:r>
              <a:rPr lang="en-US" sz="3200" kern="1200" dirty="0">
                <a:latin typeface="Times New Roman" panose="02020603050405020304" pitchFamily="18" charset="0"/>
                <a:cs typeface="Times New Roman" panose="02020603050405020304" pitchFamily="18" charset="0"/>
              </a:rPr>
              <a:t>Dataset Description</a:t>
            </a:r>
          </a:p>
        </p:txBody>
      </p:sp>
      <p:sp>
        <p:nvSpPr>
          <p:cNvPr id="3" name="Subtitle 2">
            <a:extLst>
              <a:ext uri="{FF2B5EF4-FFF2-40B4-BE49-F238E27FC236}">
                <a16:creationId xmlns:a16="http://schemas.microsoft.com/office/drawing/2014/main" id="{3304788A-75E4-6BAD-DFA4-E48DDE6C93B2}"/>
              </a:ext>
            </a:extLst>
          </p:cNvPr>
          <p:cNvSpPr>
            <a:spLocks noGrp="1"/>
          </p:cNvSpPr>
          <p:nvPr>
            <p:ph type="subTitle" idx="1"/>
          </p:nvPr>
        </p:nvSpPr>
        <p:spPr>
          <a:xfrm>
            <a:off x="4471505" y="1005989"/>
            <a:ext cx="6555347" cy="5546047"/>
          </a:xfrm>
        </p:spPr>
        <p:txBody>
          <a:bodyPr vert="horz" lIns="91440" tIns="45720" rIns="91440" bIns="45720" rtlCol="0" anchor="ctr">
            <a:normAutofit/>
          </a:bodyPr>
          <a:lstStyle/>
          <a:p>
            <a:pPr indent="-2286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Source: UCI Machine Learning Repository</a:t>
            </a:r>
          </a:p>
          <a:p>
            <a:pPr indent="-2286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Date Range: January 1, 2011 – December 31, 2012, 731 daily records</a:t>
            </a:r>
          </a:p>
          <a:p>
            <a:pPr indent="-2286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Target Variable: </a:t>
            </a:r>
            <a:r>
              <a:rPr lang="en-US" sz="2000" dirty="0" err="1">
                <a:latin typeface="Times New Roman" panose="02020603050405020304" pitchFamily="18" charset="0"/>
                <a:cs typeface="Times New Roman" panose="02020603050405020304" pitchFamily="18" charset="0"/>
              </a:rPr>
              <a:t>cnt</a:t>
            </a:r>
            <a:r>
              <a:rPr lang="en-US" sz="2000" dirty="0">
                <a:latin typeface="Times New Roman" panose="02020603050405020304" pitchFamily="18" charset="0"/>
                <a:cs typeface="Times New Roman" panose="02020603050405020304" pitchFamily="18" charset="0"/>
              </a:rPr>
              <a:t>: Total bike rentals per day (casual + registered)</a:t>
            </a:r>
          </a:p>
          <a:p>
            <a:pPr indent="-2286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Feature Types:</a:t>
            </a:r>
          </a:p>
          <a:p>
            <a:pPr indent="-2286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Categorical: season, year, month, holiday, weekday, </a:t>
            </a:r>
            <a:r>
              <a:rPr lang="en-US" sz="2000" dirty="0" err="1">
                <a:latin typeface="Times New Roman" panose="02020603050405020304" pitchFamily="18" charset="0"/>
                <a:cs typeface="Times New Roman" panose="02020603050405020304" pitchFamily="18" charset="0"/>
              </a:rPr>
              <a:t>workingday</a:t>
            </a:r>
            <a:r>
              <a:rPr lang="en-US" sz="2000" dirty="0">
                <a:latin typeface="Times New Roman" panose="02020603050405020304" pitchFamily="18" charset="0"/>
                <a:cs typeface="Times New Roman" panose="02020603050405020304" pitchFamily="18" charset="0"/>
              </a:rPr>
              <a:t>, weather situation</a:t>
            </a:r>
          </a:p>
          <a:p>
            <a:pPr indent="-2286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Continuous (normalized): temperature, “feels like” temp, humidity, windspeed</a:t>
            </a:r>
          </a:p>
          <a:p>
            <a:pPr indent="-2286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Caveats:</a:t>
            </a:r>
          </a:p>
          <a:p>
            <a:pPr indent="-2286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limited to Washington D.C. only</a:t>
            </a:r>
          </a:p>
          <a:p>
            <a:pPr indent="-2286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Some subjective classifications (e.g. weather categories)</a:t>
            </a:r>
          </a:p>
          <a:p>
            <a:pPr indent="-2286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Holidays are binary and may lack cultural nuance</a:t>
            </a:r>
          </a:p>
        </p:txBody>
      </p:sp>
      <p:sp>
        <p:nvSpPr>
          <p:cNvPr id="4" name="TextBox 3">
            <a:extLst>
              <a:ext uri="{FF2B5EF4-FFF2-40B4-BE49-F238E27FC236}">
                <a16:creationId xmlns:a16="http://schemas.microsoft.com/office/drawing/2014/main" id="{7F8DFBC6-FE6F-9805-1DAB-5DF9288337F5}"/>
              </a:ext>
            </a:extLst>
          </p:cNvPr>
          <p:cNvSpPr txBox="1"/>
          <p:nvPr/>
        </p:nvSpPr>
        <p:spPr>
          <a:xfrm>
            <a:off x="366996" y="636608"/>
            <a:ext cx="3880232" cy="1595630"/>
          </a:xfrm>
          <a:prstGeom prst="rect">
            <a:avLst/>
          </a:prstGeom>
          <a:noFill/>
        </p:spPr>
        <p:txBody>
          <a:bodyPr wrap="square" rtlCol="0">
            <a:spAutoFit/>
          </a:bodyPr>
          <a:lstStyle/>
          <a:p>
            <a:pPr>
              <a:lnSpc>
                <a:spcPct val="150000"/>
              </a:lnSpc>
            </a:pPr>
            <a:r>
              <a:rPr lang="en-US" sz="4400" b="1" dirty="0">
                <a:solidFill>
                  <a:schemeClr val="bg1"/>
                </a:solidFill>
                <a:latin typeface="Times New Roman" panose="02020603050405020304" pitchFamily="18" charset="0"/>
                <a:cs typeface="Times New Roman" panose="02020603050405020304" pitchFamily="18" charset="0"/>
              </a:rPr>
              <a:t>Bike Rentals </a:t>
            </a:r>
            <a:endParaRPr lang="en-US" sz="3600" b="1" dirty="0">
              <a:solidFill>
                <a:schemeClr val="bg1"/>
              </a:solidFill>
              <a:latin typeface="Times New Roman" panose="02020603050405020304" pitchFamily="18" charset="0"/>
              <a:cs typeface="Times New Roman" panose="02020603050405020304" pitchFamily="18" charset="0"/>
            </a:endParaRPr>
          </a:p>
          <a:p>
            <a:pPr>
              <a:lnSpc>
                <a:spcPct val="150000"/>
              </a:lnSpc>
            </a:pPr>
            <a:r>
              <a:rPr lang="en-US" sz="2400" b="1" dirty="0">
                <a:solidFill>
                  <a:schemeClr val="bg1"/>
                </a:solidFill>
                <a:latin typeface="Times New Roman" panose="02020603050405020304" pitchFamily="18" charset="0"/>
                <a:cs typeface="Times New Roman" panose="02020603050405020304" pitchFamily="18" charset="0"/>
              </a:rPr>
              <a:t>Modeling and Predicting</a:t>
            </a:r>
          </a:p>
        </p:txBody>
      </p:sp>
      <p:sp>
        <p:nvSpPr>
          <p:cNvPr id="5" name="TextBox 4">
            <a:extLst>
              <a:ext uri="{FF2B5EF4-FFF2-40B4-BE49-F238E27FC236}">
                <a16:creationId xmlns:a16="http://schemas.microsoft.com/office/drawing/2014/main" id="{8197E3D5-27D5-525C-51F7-6488A3E50667}"/>
              </a:ext>
            </a:extLst>
          </p:cNvPr>
          <p:cNvSpPr txBox="1"/>
          <p:nvPr/>
        </p:nvSpPr>
        <p:spPr>
          <a:xfrm>
            <a:off x="13374" y="3113010"/>
            <a:ext cx="3880232" cy="613117"/>
          </a:xfrm>
          <a:prstGeom prst="rect">
            <a:avLst/>
          </a:prstGeom>
          <a:noFill/>
        </p:spPr>
        <p:txBody>
          <a:bodyPr wrap="square" rtlCol="0">
            <a:spAutoFit/>
          </a:bodyPr>
          <a:lstStyle/>
          <a:p>
            <a:pPr algn="ctr">
              <a:lnSpc>
                <a:spcPct val="150000"/>
              </a:lnSpc>
            </a:pPr>
            <a:r>
              <a:rPr lang="en-US" sz="1200" dirty="0">
                <a:solidFill>
                  <a:schemeClr val="bg1"/>
                </a:solidFill>
                <a:latin typeface="Times New Roman" panose="02020603050405020304" pitchFamily="18" charset="0"/>
                <a:cs typeface="Times New Roman" panose="02020603050405020304" pitchFamily="18" charset="0"/>
              </a:rPr>
              <a:t>Ruocheng Jiang</a:t>
            </a:r>
          </a:p>
          <a:p>
            <a:pPr algn="ctr">
              <a:lnSpc>
                <a:spcPct val="150000"/>
              </a:lnSpc>
            </a:pPr>
            <a:r>
              <a:rPr lang="en-US" sz="1200" dirty="0">
                <a:solidFill>
                  <a:schemeClr val="bg1"/>
                </a:solidFill>
                <a:latin typeface="Times New Roman" panose="02020603050405020304" pitchFamily="18" charset="0"/>
                <a:cs typeface="Times New Roman" panose="02020603050405020304" pitchFamily="18" charset="0"/>
              </a:rPr>
              <a:t>Prescriptive Analytics</a:t>
            </a:r>
          </a:p>
        </p:txBody>
      </p:sp>
    </p:spTree>
    <p:extLst>
      <p:ext uri="{BB962C8B-B14F-4D97-AF65-F5344CB8AC3E}">
        <p14:creationId xmlns:p14="http://schemas.microsoft.com/office/powerpoint/2010/main" val="1714220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AAB0D9C1-F856-769E-6466-CACE540F2DE0}"/>
              </a:ext>
            </a:extLst>
          </p:cNvPr>
          <p:cNvGrpSpPr/>
          <p:nvPr/>
        </p:nvGrpSpPr>
        <p:grpSpPr>
          <a:xfrm>
            <a:off x="453768" y="659363"/>
            <a:ext cx="8277856" cy="5956589"/>
            <a:chOff x="1418968" y="59724"/>
            <a:chExt cx="9354064" cy="6626010"/>
          </a:xfrm>
        </p:grpSpPr>
        <p:pic>
          <p:nvPicPr>
            <p:cNvPr id="9" name="Picture 8">
              <a:extLst>
                <a:ext uri="{FF2B5EF4-FFF2-40B4-BE49-F238E27FC236}">
                  <a16:creationId xmlns:a16="http://schemas.microsoft.com/office/drawing/2014/main" id="{C40B472E-A99E-95A4-2126-0FDFAD3723F2}"/>
                </a:ext>
              </a:extLst>
            </p:cNvPr>
            <p:cNvPicPr>
              <a:picLocks noChangeAspect="1"/>
            </p:cNvPicPr>
            <p:nvPr/>
          </p:nvPicPr>
          <p:blipFill>
            <a:blip r:embed="rId3">
              <a:alphaModFix/>
            </a:blip>
            <a:srcRect t="14808"/>
            <a:stretch/>
          </p:blipFill>
          <p:spPr>
            <a:xfrm>
              <a:off x="1418968" y="1136822"/>
              <a:ext cx="9354064" cy="5548912"/>
            </a:xfrm>
            <a:prstGeom prst="rect">
              <a:avLst/>
            </a:prstGeom>
          </p:spPr>
        </p:pic>
        <p:pic>
          <p:nvPicPr>
            <p:cNvPr id="10" name="Picture 9" descr="A graph of a graph&#10;&#10;AI-generated content may be incorrect.">
              <a:extLst>
                <a:ext uri="{FF2B5EF4-FFF2-40B4-BE49-F238E27FC236}">
                  <a16:creationId xmlns:a16="http://schemas.microsoft.com/office/drawing/2014/main" id="{0992105F-8A8D-5DDF-CAF7-64440B1B77A5}"/>
                </a:ext>
              </a:extLst>
            </p:cNvPr>
            <p:cNvPicPr>
              <a:picLocks noChangeAspect="1"/>
            </p:cNvPicPr>
            <p:nvPr/>
          </p:nvPicPr>
          <p:blipFill>
            <a:blip r:embed="rId4">
              <a:alphaModFix/>
            </a:blip>
            <a:srcRect l="-739" t="5776" r="13900" b="2788"/>
            <a:stretch/>
          </p:blipFill>
          <p:spPr>
            <a:xfrm>
              <a:off x="1418968" y="593124"/>
              <a:ext cx="7502610" cy="5684108"/>
            </a:xfrm>
            <a:prstGeom prst="rect">
              <a:avLst/>
            </a:prstGeom>
          </p:spPr>
        </p:pic>
        <p:pic>
          <p:nvPicPr>
            <p:cNvPr id="11" name="Picture 10">
              <a:extLst>
                <a:ext uri="{FF2B5EF4-FFF2-40B4-BE49-F238E27FC236}">
                  <a16:creationId xmlns:a16="http://schemas.microsoft.com/office/drawing/2014/main" id="{D0C46467-CA72-ACA9-F2C8-7BA13D2886BE}"/>
                </a:ext>
              </a:extLst>
            </p:cNvPr>
            <p:cNvPicPr>
              <a:picLocks noChangeAspect="1"/>
            </p:cNvPicPr>
            <p:nvPr/>
          </p:nvPicPr>
          <p:blipFill>
            <a:blip r:embed="rId5"/>
            <a:stretch>
              <a:fillRect/>
            </a:stretch>
          </p:blipFill>
          <p:spPr>
            <a:xfrm>
              <a:off x="3448050" y="59724"/>
              <a:ext cx="5214036" cy="525155"/>
            </a:xfrm>
            <a:prstGeom prst="rect">
              <a:avLst/>
            </a:prstGeom>
          </p:spPr>
        </p:pic>
      </p:grpSp>
      <p:sp>
        <p:nvSpPr>
          <p:cNvPr id="19" name="TextBox 18">
            <a:extLst>
              <a:ext uri="{FF2B5EF4-FFF2-40B4-BE49-F238E27FC236}">
                <a16:creationId xmlns:a16="http://schemas.microsoft.com/office/drawing/2014/main" id="{40718188-AC6D-558E-5A75-A5A8ABCE0077}"/>
              </a:ext>
            </a:extLst>
          </p:cNvPr>
          <p:cNvSpPr txBox="1"/>
          <p:nvPr/>
        </p:nvSpPr>
        <p:spPr>
          <a:xfrm>
            <a:off x="4278301" y="86059"/>
            <a:ext cx="4054764"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Initial Trend Exploration</a:t>
            </a:r>
          </a:p>
        </p:txBody>
      </p:sp>
      <p:sp>
        <p:nvSpPr>
          <p:cNvPr id="20" name="TextBox 19">
            <a:extLst>
              <a:ext uri="{FF2B5EF4-FFF2-40B4-BE49-F238E27FC236}">
                <a16:creationId xmlns:a16="http://schemas.microsoft.com/office/drawing/2014/main" id="{47D6439E-A2D0-9B07-37F2-CD4ED8DB1350}"/>
              </a:ext>
            </a:extLst>
          </p:cNvPr>
          <p:cNvSpPr txBox="1"/>
          <p:nvPr/>
        </p:nvSpPr>
        <p:spPr>
          <a:xfrm>
            <a:off x="8076304" y="2967335"/>
            <a:ext cx="4389120" cy="923330"/>
          </a:xfrm>
          <a:prstGeom prst="rect">
            <a:avLst/>
          </a:prstGeom>
          <a:noFill/>
        </p:spPr>
        <p:txBody>
          <a:bodyPr wrap="square" rtlCol="0">
            <a:spAutoFit/>
          </a:bodyPr>
          <a:lstStyle/>
          <a:p>
            <a:r>
              <a:rPr lang="en-US" b="1" dirty="0">
                <a:solidFill>
                  <a:schemeClr val="tx1">
                    <a:lumMod val="65000"/>
                    <a:lumOff val="35000"/>
                  </a:schemeClr>
                </a:solidFill>
                <a:latin typeface="Times New Roman" panose="02020603050405020304" pitchFamily="18" charset="0"/>
                <a:cs typeface="Times New Roman" panose="02020603050405020304" pitchFamily="18" charset="0"/>
              </a:rPr>
              <a:t>Hypothesis: </a:t>
            </a:r>
          </a:p>
          <a:p>
            <a:r>
              <a:rPr lang="en-US" dirty="0">
                <a:solidFill>
                  <a:schemeClr val="tx1">
                    <a:lumMod val="65000"/>
                    <a:lumOff val="35000"/>
                  </a:schemeClr>
                </a:solidFill>
                <a:latin typeface="Times New Roman" panose="02020603050405020304" pitchFamily="18" charset="0"/>
                <a:cs typeface="Times New Roman" panose="02020603050405020304" pitchFamily="18" charset="0"/>
              </a:rPr>
              <a:t>Holidays may influence ridership</a:t>
            </a:r>
          </a:p>
          <a:p>
            <a:r>
              <a:rPr lang="en-US" dirty="0">
                <a:solidFill>
                  <a:schemeClr val="tx1">
                    <a:lumMod val="65000"/>
                    <a:lumOff val="35000"/>
                  </a:schemeClr>
                </a:solidFill>
                <a:latin typeface="Times New Roman" panose="02020603050405020304" pitchFamily="18" charset="0"/>
                <a:cs typeface="Times New Roman" panose="02020603050405020304" pitchFamily="18" charset="0"/>
              </a:rPr>
              <a:t>Rentals are more in summer, less in winter</a:t>
            </a:r>
          </a:p>
        </p:txBody>
      </p:sp>
    </p:spTree>
    <p:extLst>
      <p:ext uri="{BB962C8B-B14F-4D97-AF65-F5344CB8AC3E}">
        <p14:creationId xmlns:p14="http://schemas.microsoft.com/office/powerpoint/2010/main" val="600151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0A511C0B-52ED-8495-9EDD-9A259BBB4BB5}"/>
              </a:ext>
            </a:extLst>
          </p:cNvPr>
          <p:cNvGrpSpPr/>
          <p:nvPr/>
        </p:nvGrpSpPr>
        <p:grpSpPr>
          <a:xfrm>
            <a:off x="453767" y="643786"/>
            <a:ext cx="8277855" cy="5956589"/>
            <a:chOff x="1418968" y="50114"/>
            <a:chExt cx="9354064" cy="6635620"/>
          </a:xfrm>
        </p:grpSpPr>
        <p:pic>
          <p:nvPicPr>
            <p:cNvPr id="19" name="Picture 18">
              <a:extLst>
                <a:ext uri="{FF2B5EF4-FFF2-40B4-BE49-F238E27FC236}">
                  <a16:creationId xmlns:a16="http://schemas.microsoft.com/office/drawing/2014/main" id="{D76C4921-DCF0-E524-3B36-9E5957AB36D9}"/>
                </a:ext>
              </a:extLst>
            </p:cNvPr>
            <p:cNvPicPr>
              <a:picLocks noChangeAspect="1"/>
            </p:cNvPicPr>
            <p:nvPr/>
          </p:nvPicPr>
          <p:blipFill>
            <a:blip r:embed="rId3">
              <a:alphaModFix/>
            </a:blip>
            <a:srcRect t="4754"/>
            <a:stretch/>
          </p:blipFill>
          <p:spPr>
            <a:xfrm>
              <a:off x="1418968" y="481914"/>
              <a:ext cx="9354064" cy="6203820"/>
            </a:xfrm>
            <a:prstGeom prst="rect">
              <a:avLst/>
            </a:prstGeom>
          </p:spPr>
        </p:pic>
        <p:pic>
          <p:nvPicPr>
            <p:cNvPr id="20" name="Picture 19">
              <a:extLst>
                <a:ext uri="{FF2B5EF4-FFF2-40B4-BE49-F238E27FC236}">
                  <a16:creationId xmlns:a16="http://schemas.microsoft.com/office/drawing/2014/main" id="{BC9726A9-CBCB-554A-2522-95EE299E48F8}"/>
                </a:ext>
              </a:extLst>
            </p:cNvPr>
            <p:cNvPicPr>
              <a:picLocks noChangeAspect="1"/>
            </p:cNvPicPr>
            <p:nvPr/>
          </p:nvPicPr>
          <p:blipFill>
            <a:blip r:embed="rId4"/>
            <a:stretch>
              <a:fillRect/>
            </a:stretch>
          </p:blipFill>
          <p:spPr>
            <a:xfrm>
              <a:off x="2876550" y="50114"/>
              <a:ext cx="6438900" cy="431800"/>
            </a:xfrm>
            <a:prstGeom prst="rect">
              <a:avLst/>
            </a:prstGeom>
          </p:spPr>
        </p:pic>
      </p:grpSp>
      <p:sp>
        <p:nvSpPr>
          <p:cNvPr id="21" name="TextBox 20">
            <a:extLst>
              <a:ext uri="{FF2B5EF4-FFF2-40B4-BE49-F238E27FC236}">
                <a16:creationId xmlns:a16="http://schemas.microsoft.com/office/drawing/2014/main" id="{148911DE-1401-67E0-0754-65E72E5C1B11}"/>
              </a:ext>
            </a:extLst>
          </p:cNvPr>
          <p:cNvSpPr txBox="1"/>
          <p:nvPr/>
        </p:nvSpPr>
        <p:spPr>
          <a:xfrm>
            <a:off x="3220308" y="86059"/>
            <a:ext cx="5751383"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Initial Trend Exploration in Tableau</a:t>
            </a:r>
          </a:p>
        </p:txBody>
      </p:sp>
      <p:sp>
        <p:nvSpPr>
          <p:cNvPr id="23" name="TextBox 22">
            <a:extLst>
              <a:ext uri="{FF2B5EF4-FFF2-40B4-BE49-F238E27FC236}">
                <a16:creationId xmlns:a16="http://schemas.microsoft.com/office/drawing/2014/main" id="{0F8F5ABB-4BEE-39B9-9D5E-C0D29E112580}"/>
              </a:ext>
            </a:extLst>
          </p:cNvPr>
          <p:cNvSpPr txBox="1"/>
          <p:nvPr/>
        </p:nvSpPr>
        <p:spPr>
          <a:xfrm>
            <a:off x="8076304" y="2967335"/>
            <a:ext cx="4389120" cy="923330"/>
          </a:xfrm>
          <a:prstGeom prst="rect">
            <a:avLst/>
          </a:prstGeom>
          <a:noFill/>
        </p:spPr>
        <p:txBody>
          <a:bodyPr wrap="square" rtlCol="0">
            <a:spAutoFit/>
          </a:bodyPr>
          <a:lstStyle/>
          <a:p>
            <a:r>
              <a:rPr lang="en-US" b="1" dirty="0">
                <a:solidFill>
                  <a:schemeClr val="tx1">
                    <a:lumMod val="65000"/>
                    <a:lumOff val="35000"/>
                  </a:schemeClr>
                </a:solidFill>
                <a:latin typeface="Times New Roman" panose="02020603050405020304" pitchFamily="18" charset="0"/>
                <a:cs typeface="Times New Roman" panose="02020603050405020304" pitchFamily="18" charset="0"/>
              </a:rPr>
              <a:t>Hypothesis: </a:t>
            </a:r>
          </a:p>
          <a:p>
            <a:r>
              <a:rPr lang="en-US" dirty="0">
                <a:solidFill>
                  <a:schemeClr val="tx1">
                    <a:lumMod val="65000"/>
                    <a:lumOff val="35000"/>
                  </a:schemeClr>
                </a:solidFill>
                <a:latin typeface="Times New Roman" panose="02020603050405020304" pitchFamily="18" charset="0"/>
                <a:cs typeface="Times New Roman" panose="02020603050405020304" pitchFamily="18" charset="0"/>
              </a:rPr>
              <a:t>Holidays may influence ridership</a:t>
            </a:r>
          </a:p>
          <a:p>
            <a:r>
              <a:rPr lang="en-US" dirty="0">
                <a:solidFill>
                  <a:schemeClr val="tx1">
                    <a:lumMod val="65000"/>
                    <a:lumOff val="35000"/>
                  </a:schemeClr>
                </a:solidFill>
                <a:latin typeface="Times New Roman" panose="02020603050405020304" pitchFamily="18" charset="0"/>
                <a:cs typeface="Times New Roman" panose="02020603050405020304" pitchFamily="18" charset="0"/>
              </a:rPr>
              <a:t>Rentals are more in summer, less in winter</a:t>
            </a:r>
          </a:p>
        </p:txBody>
      </p:sp>
    </p:spTree>
    <p:extLst>
      <p:ext uri="{BB962C8B-B14F-4D97-AF65-F5344CB8AC3E}">
        <p14:creationId xmlns:p14="http://schemas.microsoft.com/office/powerpoint/2010/main" val="202013845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showing a number of people&#10;&#10;AI-generated content may be incorrect.">
            <a:extLst>
              <a:ext uri="{FF2B5EF4-FFF2-40B4-BE49-F238E27FC236}">
                <a16:creationId xmlns:a16="http://schemas.microsoft.com/office/drawing/2014/main" id="{F4E3B8D4-F0F0-FEEF-5FBF-246137345B28}"/>
              </a:ext>
            </a:extLst>
          </p:cNvPr>
          <p:cNvPicPr>
            <a:picLocks noChangeAspect="1"/>
          </p:cNvPicPr>
          <p:nvPr/>
        </p:nvPicPr>
        <p:blipFill>
          <a:blip r:embed="rId3"/>
          <a:stretch>
            <a:fillRect/>
          </a:stretch>
        </p:blipFill>
        <p:spPr>
          <a:xfrm>
            <a:off x="415177" y="345561"/>
            <a:ext cx="5628880" cy="4894677"/>
          </a:xfrm>
          <a:prstGeom prst="rect">
            <a:avLst/>
          </a:prstGeom>
        </p:spPr>
      </p:pic>
      <p:sp>
        <p:nvSpPr>
          <p:cNvPr id="4" name="TextBox 3">
            <a:extLst>
              <a:ext uri="{FF2B5EF4-FFF2-40B4-BE49-F238E27FC236}">
                <a16:creationId xmlns:a16="http://schemas.microsoft.com/office/drawing/2014/main" id="{FF3DD433-BFFF-3C2A-E340-02D47E1FF675}"/>
              </a:ext>
            </a:extLst>
          </p:cNvPr>
          <p:cNvSpPr txBox="1"/>
          <p:nvPr/>
        </p:nvSpPr>
        <p:spPr>
          <a:xfrm>
            <a:off x="487635" y="5348407"/>
            <a:ext cx="5556422"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Rentals are significantly higher on working days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Bike sharing is primarily used for commuting purposes rather than leisure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Daily transportation habits.</a:t>
            </a:r>
          </a:p>
        </p:txBody>
      </p:sp>
      <p:pic>
        <p:nvPicPr>
          <p:cNvPr id="7" name="Picture 6" descr="A graph of a rental number&#10;&#10;AI-generated content may be incorrect.">
            <a:extLst>
              <a:ext uri="{FF2B5EF4-FFF2-40B4-BE49-F238E27FC236}">
                <a16:creationId xmlns:a16="http://schemas.microsoft.com/office/drawing/2014/main" id="{A79F5A50-33F3-C262-212E-3E004C354286}"/>
              </a:ext>
            </a:extLst>
          </p:cNvPr>
          <p:cNvPicPr>
            <a:picLocks noChangeAspect="1"/>
          </p:cNvPicPr>
          <p:nvPr/>
        </p:nvPicPr>
        <p:blipFill>
          <a:blip r:embed="rId4"/>
          <a:stretch>
            <a:fillRect/>
          </a:stretch>
        </p:blipFill>
        <p:spPr>
          <a:xfrm>
            <a:off x="6515292" y="237392"/>
            <a:ext cx="5570028" cy="5008797"/>
          </a:xfrm>
          <a:prstGeom prst="rect">
            <a:avLst/>
          </a:prstGeom>
        </p:spPr>
      </p:pic>
      <p:sp>
        <p:nvSpPr>
          <p:cNvPr id="8" name="TextBox 7">
            <a:extLst>
              <a:ext uri="{FF2B5EF4-FFF2-40B4-BE49-F238E27FC236}">
                <a16:creationId xmlns:a16="http://schemas.microsoft.com/office/drawing/2014/main" id="{8F8D01C6-1581-E46F-5D69-D4976E712932}"/>
              </a:ext>
            </a:extLst>
          </p:cNvPr>
          <p:cNvSpPr txBox="1"/>
          <p:nvPr/>
        </p:nvSpPr>
        <p:spPr>
          <a:xfrm>
            <a:off x="745067" y="237392"/>
            <a:ext cx="4707467" cy="307777"/>
          </a:xfrm>
          <a:prstGeom prst="rect">
            <a:avLst/>
          </a:prstGeom>
          <a:solidFill>
            <a:schemeClr val="bg1"/>
          </a:solidFill>
        </p:spPr>
        <p:txBody>
          <a:bodyPr wrap="square" rtlCol="0">
            <a:spAutoFit/>
          </a:bodyPr>
          <a:lstStyle/>
          <a:p>
            <a:pPr algn="ctr"/>
            <a:r>
              <a:rPr lang="en-US" sz="1400" b="1" dirty="0">
                <a:effectLst/>
                <a:latin typeface="Times New Roman" panose="02020603050405020304" pitchFamily="18" charset="0"/>
                <a:cs typeface="Times New Roman" panose="02020603050405020304" pitchFamily="18" charset="0"/>
              </a:rPr>
              <a:t>Total Bike Rentals on Working vs Non-Working Days</a:t>
            </a:r>
          </a:p>
        </p:txBody>
      </p:sp>
      <p:sp>
        <p:nvSpPr>
          <p:cNvPr id="9" name="TextBox 8">
            <a:extLst>
              <a:ext uri="{FF2B5EF4-FFF2-40B4-BE49-F238E27FC236}">
                <a16:creationId xmlns:a16="http://schemas.microsoft.com/office/drawing/2014/main" id="{A9C5D30C-3E90-A210-77BB-2C79CA9769D5}"/>
              </a:ext>
            </a:extLst>
          </p:cNvPr>
          <p:cNvSpPr txBox="1"/>
          <p:nvPr/>
        </p:nvSpPr>
        <p:spPr>
          <a:xfrm>
            <a:off x="6515292" y="5348407"/>
            <a:ext cx="5449741" cy="861774"/>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Registered users tend to dominate overall volume and maintain high rental counts regardless of the day type.</a:t>
            </a:r>
          </a:p>
          <a:p>
            <a:r>
              <a:rPr lang="en-US" sz="1400" dirty="0">
                <a:latin typeface="Times New Roman" panose="02020603050405020304" pitchFamily="18" charset="0"/>
                <a:cs typeface="Times New Roman" panose="02020603050405020304" pitchFamily="18" charset="0"/>
              </a:rPr>
              <a:t>      *Help with targeted promotions or resource allocation.</a:t>
            </a:r>
          </a:p>
        </p:txBody>
      </p:sp>
    </p:spTree>
    <p:extLst>
      <p:ext uri="{BB962C8B-B14F-4D97-AF65-F5344CB8AC3E}">
        <p14:creationId xmlns:p14="http://schemas.microsoft.com/office/powerpoint/2010/main" val="768907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aph of the fall of the weather&#10;&#10;AI-generated content may be incorrect.">
            <a:extLst>
              <a:ext uri="{FF2B5EF4-FFF2-40B4-BE49-F238E27FC236}">
                <a16:creationId xmlns:a16="http://schemas.microsoft.com/office/drawing/2014/main" id="{53E5B061-8C79-F558-BBB8-BD58D5FD0C4C}"/>
              </a:ext>
            </a:extLst>
          </p:cNvPr>
          <p:cNvPicPr>
            <a:picLocks noChangeAspect="1"/>
          </p:cNvPicPr>
          <p:nvPr/>
        </p:nvPicPr>
        <p:blipFill>
          <a:blip r:embed="rId3"/>
          <a:stretch>
            <a:fillRect/>
          </a:stretch>
        </p:blipFill>
        <p:spPr>
          <a:xfrm>
            <a:off x="103743" y="571317"/>
            <a:ext cx="8678307" cy="5705658"/>
          </a:xfrm>
          <a:prstGeom prst="rect">
            <a:avLst/>
          </a:prstGeom>
        </p:spPr>
      </p:pic>
      <p:sp>
        <p:nvSpPr>
          <p:cNvPr id="7" name="TextBox 6">
            <a:extLst>
              <a:ext uri="{FF2B5EF4-FFF2-40B4-BE49-F238E27FC236}">
                <a16:creationId xmlns:a16="http://schemas.microsoft.com/office/drawing/2014/main" id="{833CBD16-548E-69F3-93B6-52EE17760EF8}"/>
              </a:ext>
            </a:extLst>
          </p:cNvPr>
          <p:cNvSpPr txBox="1"/>
          <p:nvPr/>
        </p:nvSpPr>
        <p:spPr>
          <a:xfrm>
            <a:off x="7458075" y="2944963"/>
            <a:ext cx="5353502" cy="119667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Inverted U-shaped pattern between temp and rentals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Moderate warmth boosts rentals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Overheating suppresses demand.</a:t>
            </a:r>
            <a:endParaRPr lang="en-US"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1434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867A66D-71B9-82E6-F525-9A49A417287B}"/>
              </a:ext>
            </a:extLst>
          </p:cNvPr>
          <p:cNvPicPr>
            <a:picLocks noChangeAspect="1"/>
          </p:cNvPicPr>
          <p:nvPr/>
        </p:nvPicPr>
        <p:blipFill>
          <a:blip r:embed="rId3"/>
          <a:stretch>
            <a:fillRect/>
          </a:stretch>
        </p:blipFill>
        <p:spPr>
          <a:xfrm>
            <a:off x="0" y="-7937"/>
            <a:ext cx="5012267" cy="4204269"/>
          </a:xfrm>
          <a:prstGeom prst="rect">
            <a:avLst/>
          </a:prstGeom>
        </p:spPr>
      </p:pic>
      <p:pic>
        <p:nvPicPr>
          <p:cNvPr id="7" name="Picture 6" descr="A graph of a bike rental&#10;&#10;AI-generated content may be incorrect.">
            <a:extLst>
              <a:ext uri="{FF2B5EF4-FFF2-40B4-BE49-F238E27FC236}">
                <a16:creationId xmlns:a16="http://schemas.microsoft.com/office/drawing/2014/main" id="{22A04DD2-3AED-303D-088B-7E6925F0C4F2}"/>
              </a:ext>
            </a:extLst>
          </p:cNvPr>
          <p:cNvPicPr>
            <a:picLocks noChangeAspect="1"/>
          </p:cNvPicPr>
          <p:nvPr/>
        </p:nvPicPr>
        <p:blipFill>
          <a:blip r:embed="rId4"/>
          <a:stretch>
            <a:fillRect/>
          </a:stretch>
        </p:blipFill>
        <p:spPr>
          <a:xfrm>
            <a:off x="5393885" y="6978"/>
            <a:ext cx="4644453" cy="4368799"/>
          </a:xfrm>
          <a:prstGeom prst="rect">
            <a:avLst/>
          </a:prstGeom>
        </p:spPr>
      </p:pic>
      <p:pic>
        <p:nvPicPr>
          <p:cNvPr id="8" name="Picture 7" descr="A graph showing the difference between a bike rental and a temperature&#10;&#10;AI-generated content may be incorrect.">
            <a:extLst>
              <a:ext uri="{FF2B5EF4-FFF2-40B4-BE49-F238E27FC236}">
                <a16:creationId xmlns:a16="http://schemas.microsoft.com/office/drawing/2014/main" id="{094505B9-67F0-3B39-74C2-96B3DBB13314}"/>
              </a:ext>
            </a:extLst>
          </p:cNvPr>
          <p:cNvPicPr>
            <a:picLocks noChangeAspect="1"/>
          </p:cNvPicPr>
          <p:nvPr/>
        </p:nvPicPr>
        <p:blipFill>
          <a:blip r:embed="rId5"/>
          <a:stretch>
            <a:fillRect/>
          </a:stretch>
        </p:blipFill>
        <p:spPr>
          <a:xfrm>
            <a:off x="0" y="4423329"/>
            <a:ext cx="3868831" cy="2427690"/>
          </a:xfrm>
          <a:prstGeom prst="rect">
            <a:avLst/>
          </a:prstGeom>
        </p:spPr>
      </p:pic>
      <p:pic>
        <p:nvPicPr>
          <p:cNvPr id="9" name="Picture 8" descr="A graph showing the impact of windspeed on bike rentals&#10;&#10;AI-generated content may be incorrect.">
            <a:extLst>
              <a:ext uri="{FF2B5EF4-FFF2-40B4-BE49-F238E27FC236}">
                <a16:creationId xmlns:a16="http://schemas.microsoft.com/office/drawing/2014/main" id="{38D2ABA1-35B7-21BA-042D-9B5D4E9EC001}"/>
              </a:ext>
            </a:extLst>
          </p:cNvPr>
          <p:cNvPicPr>
            <a:picLocks noChangeAspect="1"/>
          </p:cNvPicPr>
          <p:nvPr/>
        </p:nvPicPr>
        <p:blipFill>
          <a:blip r:embed="rId6"/>
          <a:stretch>
            <a:fillRect/>
          </a:stretch>
        </p:blipFill>
        <p:spPr>
          <a:xfrm>
            <a:off x="3825032" y="4416349"/>
            <a:ext cx="3891080" cy="2441651"/>
          </a:xfrm>
          <a:prstGeom prst="rect">
            <a:avLst/>
          </a:prstGeom>
        </p:spPr>
      </p:pic>
      <p:pic>
        <p:nvPicPr>
          <p:cNvPr id="10" name="Picture 9" descr="A graph showing a number of humidity&#10;&#10;AI-generated content may be incorrect.">
            <a:extLst>
              <a:ext uri="{FF2B5EF4-FFF2-40B4-BE49-F238E27FC236}">
                <a16:creationId xmlns:a16="http://schemas.microsoft.com/office/drawing/2014/main" id="{134E65EA-498A-2C24-0BE0-51D3F63258BD}"/>
              </a:ext>
            </a:extLst>
          </p:cNvPr>
          <p:cNvPicPr>
            <a:picLocks noChangeAspect="1"/>
          </p:cNvPicPr>
          <p:nvPr/>
        </p:nvPicPr>
        <p:blipFill>
          <a:blip r:embed="rId7"/>
          <a:stretch>
            <a:fillRect/>
          </a:stretch>
        </p:blipFill>
        <p:spPr>
          <a:xfrm>
            <a:off x="7677704" y="4423331"/>
            <a:ext cx="3868832" cy="2427691"/>
          </a:xfrm>
          <a:prstGeom prst="rect">
            <a:avLst/>
          </a:prstGeom>
        </p:spPr>
      </p:pic>
      <p:sp>
        <p:nvSpPr>
          <p:cNvPr id="2" name="TextBox 1">
            <a:extLst>
              <a:ext uri="{FF2B5EF4-FFF2-40B4-BE49-F238E27FC236}">
                <a16:creationId xmlns:a16="http://schemas.microsoft.com/office/drawing/2014/main" id="{20F18DE9-A7C9-1AA2-D201-8DD0FC9247C2}"/>
              </a:ext>
            </a:extLst>
          </p:cNvPr>
          <p:cNvSpPr txBox="1"/>
          <p:nvPr/>
        </p:nvSpPr>
        <p:spPr>
          <a:xfrm>
            <a:off x="9656570" y="3717123"/>
            <a:ext cx="1411605" cy="254878"/>
          </a:xfrm>
          <a:prstGeom prst="rect">
            <a:avLst/>
          </a:prstGeom>
          <a:noFill/>
        </p:spPr>
        <p:txBody>
          <a:bodyPr wrap="square" rtlCol="0">
            <a:spAutoFit/>
          </a:bodyPr>
          <a:lstStyle/>
          <a:p>
            <a:pPr>
              <a:lnSpc>
                <a:spcPct val="150000"/>
              </a:lnSpc>
            </a:pPr>
            <a:r>
              <a:rPr lang="en-US" sz="800" dirty="0">
                <a:solidFill>
                  <a:schemeClr val="tx1">
                    <a:lumMod val="50000"/>
                    <a:lumOff val="50000"/>
                  </a:schemeClr>
                </a:solidFill>
                <a:latin typeface="Times New Roman" panose="02020603050405020304" pitchFamily="18" charset="0"/>
                <a:cs typeface="Times New Roman" panose="02020603050405020304" pitchFamily="18" charset="0"/>
              </a:rPr>
              <a:t>Storm</a:t>
            </a:r>
          </a:p>
        </p:txBody>
      </p:sp>
    </p:spTree>
    <p:extLst>
      <p:ext uri="{BB962C8B-B14F-4D97-AF65-F5344CB8AC3E}">
        <p14:creationId xmlns:p14="http://schemas.microsoft.com/office/powerpoint/2010/main" val="1559149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Isosceles Triangle 3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2C7593A3-C245-A70A-CAB0-D28BC7621C68}"/>
              </a:ext>
            </a:extLst>
          </p:cNvPr>
          <p:cNvPicPr>
            <a:picLocks noChangeAspect="1"/>
          </p:cNvPicPr>
          <p:nvPr/>
        </p:nvPicPr>
        <p:blipFill>
          <a:blip r:embed="rId3"/>
          <a:stretch>
            <a:fillRect/>
          </a:stretch>
        </p:blipFill>
        <p:spPr>
          <a:xfrm>
            <a:off x="140547" y="1713934"/>
            <a:ext cx="11426316" cy="3913513"/>
          </a:xfrm>
          <a:prstGeom prst="rect">
            <a:avLst/>
          </a:prstGeom>
          <a:ln>
            <a:noFill/>
          </a:ln>
        </p:spPr>
      </p:pic>
      <p:sp>
        <p:nvSpPr>
          <p:cNvPr id="41" name="Isosceles Triangle 4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80D9572-CB13-62B3-A011-538998771D43}"/>
              </a:ext>
            </a:extLst>
          </p:cNvPr>
          <p:cNvSpPr txBox="1"/>
          <p:nvPr/>
        </p:nvSpPr>
        <p:spPr>
          <a:xfrm>
            <a:off x="7604080" y="2637901"/>
            <a:ext cx="4007680" cy="523220"/>
          </a:xfrm>
          <a:prstGeom prst="rect">
            <a:avLst/>
          </a:prstGeom>
          <a:solidFill>
            <a:schemeClr val="bg1"/>
          </a:solidFill>
        </p:spPr>
        <p:txBody>
          <a:bodyPr wrap="square" rtlCol="0">
            <a:spAutoFit/>
          </a:bodyPr>
          <a:lstStyle/>
          <a:p>
            <a:r>
              <a:rPr lang="en-US" sz="1400" dirty="0">
                <a:latin typeface="Times New Roman" panose="02020603050405020304" pitchFamily="18" charset="0"/>
                <a:cs typeface="Times New Roman" panose="02020603050405020304" pitchFamily="18" charset="0"/>
              </a:rPr>
              <a:t>Multicollinearity and redundancy</a:t>
            </a:r>
            <a:br>
              <a:rPr lang="en-US" sz="1400" dirty="0">
                <a:latin typeface="Times New Roman" panose="02020603050405020304" pitchFamily="18" charset="0"/>
                <a:cs typeface="Times New Roman" panose="02020603050405020304" pitchFamily="18" charset="0"/>
              </a:rPr>
            </a:br>
            <a:r>
              <a:rPr lang="en-US" sz="1400" dirty="0">
                <a:solidFill>
                  <a:srgbClr val="000000"/>
                </a:solidFill>
                <a:latin typeface="Times New Roman" panose="02020603050405020304" pitchFamily="18" charset="0"/>
              </a:rPr>
              <a:t>Will show insignificant high P value</a:t>
            </a:r>
            <a:endParaRPr lang="en-US" sz="2800" b="0" i="0" u="none" strike="noStrike" dirty="0">
              <a:effectLst/>
              <a:latin typeface="Arial" panose="020B0604020202020204" pitchFamily="34" charset="0"/>
            </a:endParaRPr>
          </a:p>
        </p:txBody>
      </p:sp>
      <p:sp>
        <p:nvSpPr>
          <p:cNvPr id="13" name="TextBox 12">
            <a:extLst>
              <a:ext uri="{FF2B5EF4-FFF2-40B4-BE49-F238E27FC236}">
                <a16:creationId xmlns:a16="http://schemas.microsoft.com/office/drawing/2014/main" id="{8E0A815C-8B9A-8073-D94D-20FAC7F4C699}"/>
              </a:ext>
            </a:extLst>
          </p:cNvPr>
          <p:cNvSpPr txBox="1"/>
          <p:nvPr/>
        </p:nvSpPr>
        <p:spPr>
          <a:xfrm>
            <a:off x="7604080" y="4185045"/>
            <a:ext cx="3992440" cy="369332"/>
          </a:xfrm>
          <a:prstGeom prst="rect">
            <a:avLst/>
          </a:prstGeom>
          <a:solidFill>
            <a:schemeClr val="bg1"/>
          </a:solidFill>
        </p:spPr>
        <p:txBody>
          <a:bodyPr wrap="none" rtlCol="0">
            <a:spAutoFit/>
          </a:bodyPr>
          <a:lstStyle/>
          <a:p>
            <a:r>
              <a:rPr lang="en-US" sz="1800" b="0" i="0" u="none" strike="noStrike" dirty="0">
                <a:solidFill>
                  <a:srgbClr val="000000"/>
                </a:solidFill>
                <a:effectLst/>
                <a:latin typeface="Times New Roman" panose="02020603050405020304" pitchFamily="18" charset="0"/>
              </a:rPr>
              <a:t>Choose Temp, Remove </a:t>
            </a:r>
            <a:r>
              <a:rPr lang="en-US" sz="1800" b="0" i="0" u="none" strike="noStrike" dirty="0" err="1">
                <a:solidFill>
                  <a:srgbClr val="000000"/>
                </a:solidFill>
                <a:effectLst/>
                <a:latin typeface="Times New Roman" panose="02020603050405020304" pitchFamily="18" charset="0"/>
              </a:rPr>
              <a:t>Atemp</a:t>
            </a:r>
            <a:r>
              <a:rPr lang="en-US" sz="1800" b="0" i="0" u="none" strike="noStrike" dirty="0">
                <a:solidFill>
                  <a:srgbClr val="000000"/>
                </a:solidFill>
                <a:effectLst/>
                <a:latin typeface="Times New Roman" panose="02020603050405020304" pitchFamily="18" charset="0"/>
              </a:rPr>
              <a:t>                 </a:t>
            </a:r>
            <a:endParaRPr lang="en-US" sz="3600" b="0" i="0" u="none" strike="noStrike" dirty="0">
              <a:effectLst/>
              <a:latin typeface="Arial" panose="020B0604020202020204" pitchFamily="34" charset="0"/>
            </a:endParaRPr>
          </a:p>
        </p:txBody>
      </p:sp>
      <p:sp>
        <p:nvSpPr>
          <p:cNvPr id="17" name="TextBox 16">
            <a:extLst>
              <a:ext uri="{FF2B5EF4-FFF2-40B4-BE49-F238E27FC236}">
                <a16:creationId xmlns:a16="http://schemas.microsoft.com/office/drawing/2014/main" id="{F186F506-AB54-C307-A6AB-6D475074776B}"/>
              </a:ext>
            </a:extLst>
          </p:cNvPr>
          <p:cNvSpPr txBox="1"/>
          <p:nvPr/>
        </p:nvSpPr>
        <p:spPr>
          <a:xfrm>
            <a:off x="7604080" y="3507548"/>
            <a:ext cx="4007680" cy="338554"/>
          </a:xfrm>
          <a:prstGeom prst="rect">
            <a:avLst/>
          </a:prstGeom>
          <a:solidFill>
            <a:schemeClr val="bg1"/>
          </a:solidFill>
        </p:spPr>
        <p:txBody>
          <a:bodyPr wrap="square" rtlCol="0">
            <a:spAutoFit/>
          </a:bodyPr>
          <a:lstStyle/>
          <a:p>
            <a:r>
              <a:rPr lang="en-US" sz="1600" dirty="0">
                <a:latin typeface="Times New Roman" panose="02020603050405020304" pitchFamily="18" charset="0"/>
                <a:cs typeface="Times New Roman" panose="02020603050405020304" pitchFamily="18" charset="0"/>
              </a:rPr>
              <a:t>Multicollinearity and redundancy</a:t>
            </a:r>
            <a:endParaRPr lang="en-US" sz="3200" b="0" i="0" u="none" strike="noStrike" dirty="0">
              <a:effectLst/>
              <a:latin typeface="Arial" panose="020B0604020202020204" pitchFamily="34" charset="0"/>
            </a:endParaRPr>
          </a:p>
        </p:txBody>
      </p:sp>
      <p:sp>
        <p:nvSpPr>
          <p:cNvPr id="19" name="TextBox 18">
            <a:extLst>
              <a:ext uri="{FF2B5EF4-FFF2-40B4-BE49-F238E27FC236}">
                <a16:creationId xmlns:a16="http://schemas.microsoft.com/office/drawing/2014/main" id="{64A342C0-C4E2-3C16-7B7A-5AFABB4EBC5E}"/>
              </a:ext>
            </a:extLst>
          </p:cNvPr>
          <p:cNvSpPr txBox="1"/>
          <p:nvPr/>
        </p:nvSpPr>
        <p:spPr>
          <a:xfrm>
            <a:off x="4550192" y="812556"/>
            <a:ext cx="3091616"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Variables Selection</a:t>
            </a:r>
          </a:p>
        </p:txBody>
      </p:sp>
      <p:grpSp>
        <p:nvGrpSpPr>
          <p:cNvPr id="28" name="Group 27">
            <a:extLst>
              <a:ext uri="{FF2B5EF4-FFF2-40B4-BE49-F238E27FC236}">
                <a16:creationId xmlns:a16="http://schemas.microsoft.com/office/drawing/2014/main" id="{840E8519-D38D-1D0F-13C6-6DD5F530AADF}"/>
              </a:ext>
            </a:extLst>
          </p:cNvPr>
          <p:cNvGrpSpPr/>
          <p:nvPr/>
        </p:nvGrpSpPr>
        <p:grpSpPr>
          <a:xfrm>
            <a:off x="152400" y="2007951"/>
            <a:ext cx="11351145" cy="3474967"/>
            <a:chOff x="152400" y="2007951"/>
            <a:chExt cx="11351145" cy="3474967"/>
          </a:xfrm>
        </p:grpSpPr>
        <p:sp>
          <p:nvSpPr>
            <p:cNvPr id="10" name="TextBox 9">
              <a:extLst>
                <a:ext uri="{FF2B5EF4-FFF2-40B4-BE49-F238E27FC236}">
                  <a16:creationId xmlns:a16="http://schemas.microsoft.com/office/drawing/2014/main" id="{3B2D2F0C-8F57-45C4-2E7B-6734F979F565}"/>
                </a:ext>
              </a:extLst>
            </p:cNvPr>
            <p:cNvSpPr txBox="1"/>
            <p:nvPr/>
          </p:nvSpPr>
          <p:spPr>
            <a:xfrm>
              <a:off x="7604080" y="5113586"/>
              <a:ext cx="3899465" cy="369332"/>
            </a:xfrm>
            <a:prstGeom prst="rect">
              <a:avLst/>
            </a:prstGeom>
            <a:solidFill>
              <a:schemeClr val="bg1"/>
            </a:solidFill>
          </p:spPr>
          <p:txBody>
            <a:bodyPr wrap="none" rtlCol="0">
              <a:spAutoFit/>
            </a:bodyPr>
            <a:lstStyle/>
            <a:p>
              <a:r>
                <a:rPr lang="en-US" sz="1800" b="0" i="0" u="none" strike="noStrike" dirty="0">
                  <a:solidFill>
                    <a:srgbClr val="000000"/>
                  </a:solidFill>
                  <a:effectLst/>
                  <a:latin typeface="Times New Roman" panose="02020603050405020304" pitchFamily="18" charset="0"/>
                </a:rPr>
                <a:t>Leakage: Directly sum to the target </a:t>
              </a:r>
              <a:r>
                <a:rPr lang="en-US" sz="1800" b="0" i="0" u="none" strike="noStrike" dirty="0" err="1">
                  <a:solidFill>
                    <a:srgbClr val="000000"/>
                  </a:solidFill>
                  <a:effectLst/>
                  <a:latin typeface="Times New Roman" panose="02020603050405020304" pitchFamily="18" charset="0"/>
                </a:rPr>
                <a:t>cnt</a:t>
              </a:r>
              <a:r>
                <a:rPr lang="en-US" sz="1800" b="0" i="0" u="none" strike="noStrike" dirty="0">
                  <a:solidFill>
                    <a:srgbClr val="000000"/>
                  </a:solidFill>
                  <a:effectLst/>
                  <a:latin typeface="Times New Roman" panose="02020603050405020304" pitchFamily="18" charset="0"/>
                </a:rPr>
                <a:t>. </a:t>
              </a:r>
              <a:endParaRPr lang="en-US" sz="3600" b="0" i="0" u="none" strike="noStrike" dirty="0">
                <a:effectLst/>
                <a:latin typeface="Arial" panose="020B0604020202020204" pitchFamily="34" charset="0"/>
              </a:endParaRPr>
            </a:p>
          </p:txBody>
        </p:sp>
        <p:sp>
          <p:nvSpPr>
            <p:cNvPr id="15" name="TextBox 14">
              <a:extLst>
                <a:ext uri="{FF2B5EF4-FFF2-40B4-BE49-F238E27FC236}">
                  <a16:creationId xmlns:a16="http://schemas.microsoft.com/office/drawing/2014/main" id="{2EDDD5A2-9DBF-0B96-BF42-18912FC975A1}"/>
                </a:ext>
              </a:extLst>
            </p:cNvPr>
            <p:cNvSpPr txBox="1"/>
            <p:nvPr/>
          </p:nvSpPr>
          <p:spPr>
            <a:xfrm>
              <a:off x="7604080" y="2007951"/>
              <a:ext cx="3036409" cy="307777"/>
            </a:xfrm>
            <a:prstGeom prst="rect">
              <a:avLst/>
            </a:prstGeom>
            <a:noFill/>
          </p:spPr>
          <p:txBody>
            <a:bodyPr wrap="none" rtlCol="0">
              <a:spAutoFit/>
            </a:bodyPr>
            <a:lstStyle/>
            <a:p>
              <a:r>
                <a:rPr lang="en-US" sz="1400" dirty="0">
                  <a:solidFill>
                    <a:srgbClr val="000000"/>
                  </a:solidFill>
                  <a:latin typeface="Times New Roman" panose="02020603050405020304" pitchFamily="18" charset="0"/>
                </a:rPr>
                <a:t>Spurious correlation                               </a:t>
              </a:r>
              <a:endParaRPr lang="en-US" sz="2800" b="0" i="0" u="none" strike="noStrike" dirty="0">
                <a:effectLst/>
                <a:latin typeface="Arial" panose="020B0604020202020204" pitchFamily="34" charset="0"/>
              </a:endParaRPr>
            </a:p>
          </p:txBody>
        </p:sp>
        <p:cxnSp>
          <p:nvCxnSpPr>
            <p:cNvPr id="23" name="Straight Connector 22">
              <a:extLst>
                <a:ext uri="{FF2B5EF4-FFF2-40B4-BE49-F238E27FC236}">
                  <a16:creationId xmlns:a16="http://schemas.microsoft.com/office/drawing/2014/main" id="{91977B17-6A2F-689B-A1FF-B6934944304E}"/>
                </a:ext>
              </a:extLst>
            </p:cNvPr>
            <p:cNvCxnSpPr>
              <a:cxnSpLocks/>
            </p:cNvCxnSpPr>
            <p:nvPr/>
          </p:nvCxnSpPr>
          <p:spPr>
            <a:xfrm>
              <a:off x="152400" y="5404932"/>
              <a:ext cx="7342293" cy="0"/>
            </a:xfrm>
            <a:prstGeom prst="line">
              <a:avLst/>
            </a:prstGeom>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69BAC2D1-099F-AF4C-E284-16A052F5435E}"/>
                </a:ext>
              </a:extLst>
            </p:cNvPr>
            <p:cNvCxnSpPr>
              <a:cxnSpLocks/>
            </p:cNvCxnSpPr>
            <p:nvPr/>
          </p:nvCxnSpPr>
          <p:spPr>
            <a:xfrm>
              <a:off x="152400" y="5169278"/>
              <a:ext cx="7342293" cy="0"/>
            </a:xfrm>
            <a:prstGeom prst="line">
              <a:avLst/>
            </a:prstGeom>
          </p:spPr>
          <p:style>
            <a:lnRef idx="2">
              <a:schemeClr val="dk1"/>
            </a:lnRef>
            <a:fillRef idx="0">
              <a:schemeClr val="dk1"/>
            </a:fillRef>
            <a:effectRef idx="1">
              <a:schemeClr val="dk1"/>
            </a:effectRef>
            <a:fontRef idx="minor">
              <a:schemeClr val="tx1"/>
            </a:fontRef>
          </p:style>
        </p:cxnSp>
        <p:cxnSp>
          <p:nvCxnSpPr>
            <p:cNvPr id="26" name="Straight Connector 25">
              <a:extLst>
                <a:ext uri="{FF2B5EF4-FFF2-40B4-BE49-F238E27FC236}">
                  <a16:creationId xmlns:a16="http://schemas.microsoft.com/office/drawing/2014/main" id="{C672EFF4-2963-2E23-BBE9-854796D728C6}"/>
                </a:ext>
              </a:extLst>
            </p:cNvPr>
            <p:cNvCxnSpPr>
              <a:cxnSpLocks/>
            </p:cNvCxnSpPr>
            <p:nvPr/>
          </p:nvCxnSpPr>
          <p:spPr>
            <a:xfrm>
              <a:off x="152400" y="2187349"/>
              <a:ext cx="7342293" cy="0"/>
            </a:xfrm>
            <a:prstGeom prst="line">
              <a:avLst/>
            </a:prstGeom>
          </p:spPr>
          <p:style>
            <a:lnRef idx="2">
              <a:schemeClr val="dk1"/>
            </a:lnRef>
            <a:fillRef idx="0">
              <a:schemeClr val="dk1"/>
            </a:fillRef>
            <a:effectRef idx="1">
              <a:schemeClr val="dk1"/>
            </a:effectRef>
            <a:fontRef idx="minor">
              <a:schemeClr val="tx1"/>
            </a:fontRef>
          </p:style>
        </p:cxnSp>
      </p:grpSp>
      <p:cxnSp>
        <p:nvCxnSpPr>
          <p:cNvPr id="32" name="Straight Connector 31">
            <a:extLst>
              <a:ext uri="{FF2B5EF4-FFF2-40B4-BE49-F238E27FC236}">
                <a16:creationId xmlns:a16="http://schemas.microsoft.com/office/drawing/2014/main" id="{A48988BA-4884-44BA-0D53-03E1E91C0D15}"/>
              </a:ext>
            </a:extLst>
          </p:cNvPr>
          <p:cNvCxnSpPr>
            <a:cxnSpLocks/>
          </p:cNvCxnSpPr>
          <p:nvPr/>
        </p:nvCxnSpPr>
        <p:spPr>
          <a:xfrm>
            <a:off x="140547" y="2869031"/>
            <a:ext cx="7342293" cy="0"/>
          </a:xfrm>
          <a:prstGeom prst="line">
            <a:avLst/>
          </a:prstGeom>
        </p:spPr>
        <p:style>
          <a:lnRef idx="2">
            <a:schemeClr val="dk1"/>
          </a:lnRef>
          <a:fillRef idx="0">
            <a:schemeClr val="dk1"/>
          </a:fillRef>
          <a:effectRef idx="1">
            <a:schemeClr val="dk1"/>
          </a:effectRef>
          <a:fontRef idx="minor">
            <a:schemeClr val="tx1"/>
          </a:fontRef>
        </p:style>
      </p:cxnSp>
      <p:cxnSp>
        <p:nvCxnSpPr>
          <p:cNvPr id="34" name="Straight Connector 33">
            <a:extLst>
              <a:ext uri="{FF2B5EF4-FFF2-40B4-BE49-F238E27FC236}">
                <a16:creationId xmlns:a16="http://schemas.microsoft.com/office/drawing/2014/main" id="{08F3811C-5F75-5710-344A-341F7982845B}"/>
              </a:ext>
            </a:extLst>
          </p:cNvPr>
          <p:cNvCxnSpPr>
            <a:cxnSpLocks/>
          </p:cNvCxnSpPr>
          <p:nvPr/>
        </p:nvCxnSpPr>
        <p:spPr>
          <a:xfrm>
            <a:off x="140547" y="3097631"/>
            <a:ext cx="7342293" cy="0"/>
          </a:xfrm>
          <a:prstGeom prst="line">
            <a:avLst/>
          </a:prstGeom>
        </p:spPr>
        <p:style>
          <a:lnRef idx="2">
            <a:schemeClr val="dk1"/>
          </a:lnRef>
          <a:fillRef idx="0">
            <a:schemeClr val="dk1"/>
          </a:fillRef>
          <a:effectRef idx="1">
            <a:schemeClr val="dk1"/>
          </a:effectRef>
          <a:fontRef idx="minor">
            <a:schemeClr val="tx1"/>
          </a:fontRef>
        </p:style>
      </p:cxnSp>
      <p:cxnSp>
        <p:nvCxnSpPr>
          <p:cNvPr id="36" name="Straight Connector 35">
            <a:extLst>
              <a:ext uri="{FF2B5EF4-FFF2-40B4-BE49-F238E27FC236}">
                <a16:creationId xmlns:a16="http://schemas.microsoft.com/office/drawing/2014/main" id="{779B1ADA-C18B-9556-9618-2C4257B46EB1}"/>
              </a:ext>
            </a:extLst>
          </p:cNvPr>
          <p:cNvCxnSpPr>
            <a:cxnSpLocks/>
          </p:cNvCxnSpPr>
          <p:nvPr/>
        </p:nvCxnSpPr>
        <p:spPr>
          <a:xfrm>
            <a:off x="140546" y="3784398"/>
            <a:ext cx="7342293" cy="0"/>
          </a:xfrm>
          <a:prstGeom prst="line">
            <a:avLst/>
          </a:prstGeom>
        </p:spPr>
        <p:style>
          <a:lnRef idx="2">
            <a:schemeClr val="dk1"/>
          </a:lnRef>
          <a:fillRef idx="0">
            <a:schemeClr val="dk1"/>
          </a:fillRef>
          <a:effectRef idx="1">
            <a:schemeClr val="dk1"/>
          </a:effectRef>
          <a:fontRef idx="minor">
            <a:schemeClr val="tx1"/>
          </a:fontRef>
        </p:style>
      </p:cxnSp>
      <p:cxnSp>
        <p:nvCxnSpPr>
          <p:cNvPr id="38" name="Straight Connector 37">
            <a:extLst>
              <a:ext uri="{FF2B5EF4-FFF2-40B4-BE49-F238E27FC236}">
                <a16:creationId xmlns:a16="http://schemas.microsoft.com/office/drawing/2014/main" id="{5E7A101A-83D8-6BA7-E79B-ABD754FB40EB}"/>
              </a:ext>
            </a:extLst>
          </p:cNvPr>
          <p:cNvCxnSpPr>
            <a:cxnSpLocks/>
          </p:cNvCxnSpPr>
          <p:nvPr/>
        </p:nvCxnSpPr>
        <p:spPr>
          <a:xfrm>
            <a:off x="140546" y="4483055"/>
            <a:ext cx="7342293" cy="0"/>
          </a:xfrm>
          <a:prstGeom prst="line">
            <a:avLst/>
          </a:prstGeom>
        </p:spPr>
        <p:style>
          <a:lnRef idx="2">
            <a:schemeClr val="dk1"/>
          </a:lnRef>
          <a:fillRef idx="0">
            <a:schemeClr val="dk1"/>
          </a:fillRef>
          <a:effectRef idx="1">
            <a:schemeClr val="dk1"/>
          </a:effectRef>
          <a:fontRef idx="minor">
            <a:schemeClr val="tx1"/>
          </a:fontRef>
        </p:style>
      </p:cxnSp>
      <p:sp>
        <p:nvSpPr>
          <p:cNvPr id="40" name="TextBox 39">
            <a:extLst>
              <a:ext uri="{FF2B5EF4-FFF2-40B4-BE49-F238E27FC236}">
                <a16:creationId xmlns:a16="http://schemas.microsoft.com/office/drawing/2014/main" id="{EFF1B9E3-2FFC-624C-0266-8925518D67CB}"/>
              </a:ext>
            </a:extLst>
          </p:cNvPr>
          <p:cNvSpPr txBox="1"/>
          <p:nvPr/>
        </p:nvSpPr>
        <p:spPr>
          <a:xfrm>
            <a:off x="7641808" y="2236892"/>
            <a:ext cx="2754024" cy="307777"/>
          </a:xfrm>
          <a:prstGeom prst="rect">
            <a:avLst/>
          </a:prstGeom>
          <a:noFill/>
        </p:spPr>
        <p:txBody>
          <a:bodyPr wrap="none" rtlCol="0">
            <a:spAutoFit/>
          </a:bodyPr>
          <a:lstStyle/>
          <a:p>
            <a:r>
              <a:rPr lang="en-US" sz="1400" i="1" dirty="0">
                <a:solidFill>
                  <a:srgbClr val="000000"/>
                </a:solidFill>
                <a:latin typeface="Times New Roman" panose="02020603050405020304" pitchFamily="18" charset="0"/>
              </a:rPr>
              <a:t>Removed</a:t>
            </a:r>
            <a:r>
              <a:rPr lang="zh-CN" altLang="en-US" sz="1400" i="1" dirty="0">
                <a:solidFill>
                  <a:srgbClr val="000000"/>
                </a:solidFill>
                <a:latin typeface="Times New Roman" panose="02020603050405020304" pitchFamily="18" charset="0"/>
              </a:rPr>
              <a:t> </a:t>
            </a:r>
            <a:r>
              <a:rPr lang="en-US" altLang="zh-CN" sz="1400" i="1" dirty="0">
                <a:solidFill>
                  <a:srgbClr val="000000"/>
                </a:solidFill>
                <a:latin typeface="Times New Roman" panose="02020603050405020304" pitchFamily="18" charset="0"/>
              </a:rPr>
              <a:t>only</a:t>
            </a:r>
            <a:r>
              <a:rPr lang="en-US" sz="1400" i="1" dirty="0">
                <a:solidFill>
                  <a:srgbClr val="000000"/>
                </a:solidFill>
                <a:latin typeface="Times New Roman" panose="02020603050405020304" pitchFamily="18" charset="0"/>
              </a:rPr>
              <a:t> in Linear Regression</a:t>
            </a:r>
            <a:endParaRPr lang="en-US" sz="2800" b="0" i="1" u="none" strike="noStrike" dirty="0">
              <a:effectLst/>
              <a:latin typeface="Arial" panose="020B0604020202020204" pitchFamily="34" charset="0"/>
            </a:endParaRPr>
          </a:p>
        </p:txBody>
      </p:sp>
    </p:spTree>
    <p:extLst>
      <p:ext uri="{BB962C8B-B14F-4D97-AF65-F5344CB8AC3E}">
        <p14:creationId xmlns:p14="http://schemas.microsoft.com/office/powerpoint/2010/main" val="3772609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10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par>
                                <p:cTn id="16" presetID="10" presetClass="entr" presetSubtype="0" fill="hold" nodeType="withEffect">
                                  <p:stCondLst>
                                    <p:cond delay="0"/>
                                  </p:stCondLst>
                                  <p:childTnLst>
                                    <p:set>
                                      <p:cBhvr>
                                        <p:cTn id="17" dur="1" fill="hold">
                                          <p:stCondLst>
                                            <p:cond delay="0"/>
                                          </p:stCondLst>
                                        </p:cTn>
                                        <p:tgtEl>
                                          <p:spTgt spid="34"/>
                                        </p:tgtEl>
                                        <p:attrNameLst>
                                          <p:attrName>style.visibility</p:attrName>
                                        </p:attrNameLst>
                                      </p:cBhvr>
                                      <p:to>
                                        <p:strVal val="visible"/>
                                      </p:to>
                                    </p:set>
                                    <p:animEffect transition="in" filter="fade">
                                      <p:cBhvr>
                                        <p:cTn id="18" dur="500"/>
                                        <p:tgtEl>
                                          <p:spTgt spid="3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par>
                                <p:cTn id="27" presetID="10" presetClass="entr" presetSubtype="0" fill="hold" nodeType="with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500"/>
                                        <p:tgtEl>
                                          <p:spTgt spid="3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fade">
                                      <p:cBhvr>
                                        <p:cTn id="34" dur="500"/>
                                        <p:tgtEl>
                                          <p:spTgt spid="3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7" grpId="0" animBg="1"/>
      <p:bldP spid="40"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8">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Isosceles Triangle 16">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60470F53-F69D-477E-5576-FEF5D9EDF67D}"/>
              </a:ext>
            </a:extLst>
          </p:cNvPr>
          <p:cNvGraphicFramePr>
            <a:graphicFrameLocks noGrp="1"/>
          </p:cNvGraphicFramePr>
          <p:nvPr>
            <p:extLst>
              <p:ext uri="{D42A27DB-BD31-4B8C-83A1-F6EECF244321}">
                <p14:modId xmlns:p14="http://schemas.microsoft.com/office/powerpoint/2010/main" val="1769291721"/>
              </p:ext>
            </p:extLst>
          </p:nvPr>
        </p:nvGraphicFramePr>
        <p:xfrm>
          <a:off x="636747" y="4676870"/>
          <a:ext cx="10918505" cy="1269810"/>
        </p:xfrm>
        <a:graphic>
          <a:graphicData uri="http://schemas.openxmlformats.org/drawingml/2006/table">
            <a:tbl>
              <a:tblPr/>
              <a:tblGrid>
                <a:gridCol w="2040860">
                  <a:extLst>
                    <a:ext uri="{9D8B030D-6E8A-4147-A177-3AD203B41FA5}">
                      <a16:colId xmlns:a16="http://schemas.microsoft.com/office/drawing/2014/main" val="3777910647"/>
                    </a:ext>
                  </a:extLst>
                </a:gridCol>
                <a:gridCol w="1917088">
                  <a:extLst>
                    <a:ext uri="{9D8B030D-6E8A-4147-A177-3AD203B41FA5}">
                      <a16:colId xmlns:a16="http://schemas.microsoft.com/office/drawing/2014/main" val="881239524"/>
                    </a:ext>
                  </a:extLst>
                </a:gridCol>
                <a:gridCol w="3177725">
                  <a:extLst>
                    <a:ext uri="{9D8B030D-6E8A-4147-A177-3AD203B41FA5}">
                      <a16:colId xmlns:a16="http://schemas.microsoft.com/office/drawing/2014/main" val="903465670"/>
                    </a:ext>
                  </a:extLst>
                </a:gridCol>
                <a:gridCol w="3782832">
                  <a:extLst>
                    <a:ext uri="{9D8B030D-6E8A-4147-A177-3AD203B41FA5}">
                      <a16:colId xmlns:a16="http://schemas.microsoft.com/office/drawing/2014/main" val="2926073752"/>
                    </a:ext>
                  </a:extLst>
                </a:gridCol>
              </a:tblGrid>
              <a:tr h="235749">
                <a:tc>
                  <a:txBody>
                    <a:bodyPr/>
                    <a:lstStyle/>
                    <a:p>
                      <a:pPr algn="l" fontAlgn="ctr">
                        <a:buNone/>
                      </a:pPr>
                      <a:r>
                        <a:rPr lang="en-US" sz="1800" b="1" i="0" u="none" strike="noStrike">
                          <a:solidFill>
                            <a:srgbClr val="000000"/>
                          </a:solidFill>
                          <a:effectLst/>
                          <a:latin typeface="Times New Roman" panose="02020603050405020304" pitchFamily="18" charset="0"/>
                        </a:rPr>
                        <a:t>Set</a:t>
                      </a:r>
                      <a:endParaRPr lang="en-US" sz="3200" b="0" i="0" u="none" strike="noStrike">
                        <a:effectLst/>
                        <a:latin typeface="Arial" panose="020B0604020202020204" pitchFamily="34" charset="0"/>
                      </a:endParaRPr>
                    </a:p>
                  </a:txBody>
                  <a:tcPr marL="26194" marR="26194" marT="26194"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800" b="1" i="0" u="none" strike="noStrike">
                          <a:solidFill>
                            <a:srgbClr val="000000"/>
                          </a:solidFill>
                          <a:effectLst/>
                          <a:latin typeface="Times New Roman" panose="02020603050405020304" pitchFamily="18" charset="0"/>
                        </a:rPr>
                        <a:t>Rows</a:t>
                      </a:r>
                      <a:endParaRPr lang="en-US" sz="3200" b="0" i="0" u="none" strike="noStrike">
                        <a:effectLst/>
                        <a:latin typeface="Arial" panose="020B0604020202020204" pitchFamily="34" charset="0"/>
                      </a:endParaRPr>
                    </a:p>
                  </a:txBody>
                  <a:tcPr marL="26194" marR="26194" marT="26194"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800" b="1" i="0" u="none" strike="noStrike" dirty="0">
                          <a:solidFill>
                            <a:srgbClr val="000000"/>
                          </a:solidFill>
                          <a:effectLst/>
                          <a:latin typeface="Times New Roman" panose="02020603050405020304" pitchFamily="18" charset="0"/>
                        </a:rPr>
                        <a:t>Date Range</a:t>
                      </a:r>
                      <a:endParaRPr lang="en-US" sz="3200" b="0" i="0" u="none" strike="noStrike" dirty="0">
                        <a:effectLst/>
                        <a:latin typeface="Arial" panose="020B0604020202020204" pitchFamily="34" charset="0"/>
                      </a:endParaRPr>
                    </a:p>
                  </a:txBody>
                  <a:tcPr marL="26194" marR="26194" marT="26194"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fontAlgn="ctr">
                        <a:buNone/>
                      </a:pPr>
                      <a:r>
                        <a:rPr lang="en-US" sz="1800" b="1" i="0" u="none" strike="noStrike">
                          <a:solidFill>
                            <a:srgbClr val="000000"/>
                          </a:solidFill>
                          <a:effectLst/>
                          <a:latin typeface="Times New Roman" panose="02020603050405020304" pitchFamily="18" charset="0"/>
                        </a:rPr>
                        <a:t>Purpose</a:t>
                      </a:r>
                      <a:endParaRPr lang="en-US" sz="3200" b="0" i="0" u="none" strike="noStrike">
                        <a:effectLst/>
                        <a:latin typeface="Arial" panose="020B0604020202020204" pitchFamily="34" charset="0"/>
                      </a:endParaRPr>
                    </a:p>
                  </a:txBody>
                  <a:tcPr marL="26194" marR="26194" marT="26194"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0858590"/>
                  </a:ext>
                </a:extLst>
              </a:tr>
              <a:tr h="394462">
                <a:tc>
                  <a:txBody>
                    <a:bodyPr/>
                    <a:lstStyle/>
                    <a:p>
                      <a:pPr algn="l" fontAlgn="ctr">
                        <a:buNone/>
                      </a:pPr>
                      <a:r>
                        <a:rPr lang="en-US" sz="1800" b="1" i="0" u="none" strike="noStrike">
                          <a:solidFill>
                            <a:srgbClr val="000000"/>
                          </a:solidFill>
                          <a:effectLst/>
                          <a:latin typeface="Times New Roman" panose="02020603050405020304" pitchFamily="18" charset="0"/>
                        </a:rPr>
                        <a:t>Training</a:t>
                      </a:r>
                      <a:endParaRPr lang="en-US" sz="3200" b="0" i="0" u="none" strike="noStrike">
                        <a:effectLst/>
                        <a:latin typeface="Arial" panose="020B0604020202020204" pitchFamily="34" charset="0"/>
                      </a:endParaRPr>
                    </a:p>
                  </a:txBody>
                  <a:tcPr marL="26194" marR="26194" marT="26194"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800" b="0" i="0" u="none" strike="noStrike">
                          <a:solidFill>
                            <a:srgbClr val="000000"/>
                          </a:solidFill>
                          <a:effectLst/>
                          <a:latin typeface="Times New Roman" panose="02020603050405020304" pitchFamily="18" charset="0"/>
                        </a:rPr>
                        <a:t>1–718</a:t>
                      </a:r>
                      <a:endParaRPr lang="en-US" sz="3200" b="0" i="0" u="none" strike="noStrike">
                        <a:effectLst/>
                        <a:latin typeface="Arial" panose="020B0604020202020204" pitchFamily="34" charset="0"/>
                      </a:endParaRPr>
                    </a:p>
                  </a:txBody>
                  <a:tcPr marL="26194" marR="26194" marT="26194"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800" b="0" i="0" u="none" strike="noStrike">
                          <a:solidFill>
                            <a:srgbClr val="000000"/>
                          </a:solidFill>
                          <a:effectLst/>
                          <a:latin typeface="Times New Roman" panose="02020603050405020304" pitchFamily="18" charset="0"/>
                        </a:rPr>
                        <a:t>Before 2012-12-17</a:t>
                      </a:r>
                      <a:endParaRPr lang="en-US" sz="3200" b="0" i="0" u="none" strike="noStrike">
                        <a:effectLst/>
                        <a:latin typeface="Arial" panose="020B0604020202020204" pitchFamily="34" charset="0"/>
                      </a:endParaRPr>
                    </a:p>
                  </a:txBody>
                  <a:tcPr marL="26194" marR="26194" marT="26194"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800" b="0" i="0" u="none" strike="noStrike">
                          <a:solidFill>
                            <a:srgbClr val="000000"/>
                          </a:solidFill>
                          <a:effectLst/>
                          <a:latin typeface="Times New Roman" panose="02020603050405020304" pitchFamily="18" charset="0"/>
                        </a:rPr>
                        <a:t>Fit the model using past data</a:t>
                      </a:r>
                      <a:endParaRPr lang="en-US" sz="3200" b="0" i="0" u="none" strike="noStrike">
                        <a:effectLst/>
                        <a:latin typeface="Arial" panose="020B0604020202020204" pitchFamily="34" charset="0"/>
                      </a:endParaRPr>
                    </a:p>
                  </a:txBody>
                  <a:tcPr marL="26194" marR="26194" marT="26194"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9125894"/>
                  </a:ext>
                </a:extLst>
              </a:tr>
              <a:tr h="450949">
                <a:tc>
                  <a:txBody>
                    <a:bodyPr/>
                    <a:lstStyle/>
                    <a:p>
                      <a:pPr algn="l" fontAlgn="ctr">
                        <a:buNone/>
                      </a:pPr>
                      <a:r>
                        <a:rPr lang="en-US" sz="1800" b="1" i="0" u="none" strike="noStrike">
                          <a:solidFill>
                            <a:srgbClr val="000000"/>
                          </a:solidFill>
                          <a:effectLst/>
                          <a:latin typeface="Times New Roman" panose="02020603050405020304" pitchFamily="18" charset="0"/>
                        </a:rPr>
                        <a:t>Testing</a:t>
                      </a:r>
                      <a:endParaRPr lang="en-US" sz="3200" b="0" i="0" u="none" strike="noStrike">
                        <a:effectLst/>
                        <a:latin typeface="Arial" panose="020B0604020202020204" pitchFamily="34" charset="0"/>
                      </a:endParaRPr>
                    </a:p>
                  </a:txBody>
                  <a:tcPr marL="26194" marR="26194" marT="2619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r>
                        <a:rPr lang="en-US" sz="1800" b="0" i="0" u="none" strike="noStrike" dirty="0">
                          <a:solidFill>
                            <a:srgbClr val="000000"/>
                          </a:solidFill>
                          <a:effectLst/>
                          <a:latin typeface="Times New Roman" panose="02020603050405020304" pitchFamily="18" charset="0"/>
                        </a:rPr>
                        <a:t>719–732</a:t>
                      </a:r>
                      <a:endParaRPr lang="en-US" sz="3200" b="0" i="0" u="none" strike="noStrike" dirty="0">
                        <a:effectLst/>
                        <a:latin typeface="Arial" panose="020B0604020202020204" pitchFamily="34" charset="0"/>
                      </a:endParaRPr>
                    </a:p>
                  </a:txBody>
                  <a:tcPr marL="26194" marR="26194" marT="2619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r>
                        <a:rPr lang="en-US" sz="1800" b="0" i="0" u="none" strike="noStrike" dirty="0">
                          <a:solidFill>
                            <a:srgbClr val="000000"/>
                          </a:solidFill>
                          <a:effectLst/>
                          <a:latin typeface="Times New Roman" panose="02020603050405020304" pitchFamily="18" charset="0"/>
                        </a:rPr>
                        <a:t>2012-12-17 to 2012-12-31</a:t>
                      </a:r>
                      <a:endParaRPr lang="en-US" sz="3200" b="0" i="0" u="none" strike="noStrike" dirty="0">
                        <a:effectLst/>
                        <a:latin typeface="Arial" panose="020B0604020202020204" pitchFamily="34" charset="0"/>
                      </a:endParaRPr>
                    </a:p>
                  </a:txBody>
                  <a:tcPr marL="26194" marR="26194" marT="26194"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ctr">
                        <a:buNone/>
                      </a:pPr>
                      <a:r>
                        <a:rPr lang="en-US" sz="1800" b="0" i="0" u="none" strike="noStrike" dirty="0">
                          <a:solidFill>
                            <a:srgbClr val="000000"/>
                          </a:solidFill>
                          <a:effectLst/>
                          <a:latin typeface="Times New Roman" panose="02020603050405020304" pitchFamily="18" charset="0"/>
                        </a:rPr>
                        <a:t>Predict unseen future 2 weeks period values</a:t>
                      </a:r>
                      <a:endParaRPr lang="en-US" sz="3200" b="0" i="0" u="none" strike="noStrike" dirty="0">
                        <a:effectLst/>
                        <a:latin typeface="Arial" panose="020B0604020202020204" pitchFamily="34" charset="0"/>
                      </a:endParaRPr>
                    </a:p>
                  </a:txBody>
                  <a:tcPr marL="26194" marR="26194" marT="26194"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612308070"/>
                  </a:ext>
                </a:extLst>
              </a:tr>
            </a:tbl>
          </a:graphicData>
        </a:graphic>
      </p:graphicFrame>
      <p:pic>
        <p:nvPicPr>
          <p:cNvPr id="5" name="Picture 4">
            <a:extLst>
              <a:ext uri="{FF2B5EF4-FFF2-40B4-BE49-F238E27FC236}">
                <a16:creationId xmlns:a16="http://schemas.microsoft.com/office/drawing/2014/main" id="{B29EC128-2604-F413-DB33-FDEF175258BF}"/>
              </a:ext>
            </a:extLst>
          </p:cNvPr>
          <p:cNvPicPr>
            <a:picLocks noChangeAspect="1"/>
          </p:cNvPicPr>
          <p:nvPr/>
        </p:nvPicPr>
        <p:blipFill>
          <a:blip r:embed="rId3"/>
          <a:stretch>
            <a:fillRect/>
          </a:stretch>
        </p:blipFill>
        <p:spPr>
          <a:xfrm>
            <a:off x="1440179" y="1538817"/>
            <a:ext cx="9311640" cy="3096118"/>
          </a:xfrm>
          <a:prstGeom prst="rect">
            <a:avLst/>
          </a:prstGeom>
        </p:spPr>
      </p:pic>
      <p:sp>
        <p:nvSpPr>
          <p:cNvPr id="6" name="TextBox 5">
            <a:extLst>
              <a:ext uri="{FF2B5EF4-FFF2-40B4-BE49-F238E27FC236}">
                <a16:creationId xmlns:a16="http://schemas.microsoft.com/office/drawing/2014/main" id="{9F8166C5-95EE-CCB5-A66A-C73A94CF2D9D}"/>
              </a:ext>
            </a:extLst>
          </p:cNvPr>
          <p:cNvSpPr txBox="1"/>
          <p:nvPr/>
        </p:nvSpPr>
        <p:spPr>
          <a:xfrm>
            <a:off x="4550192" y="812556"/>
            <a:ext cx="3091616"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Variables Selection</a:t>
            </a:r>
          </a:p>
        </p:txBody>
      </p:sp>
    </p:spTree>
    <p:extLst>
      <p:ext uri="{BB962C8B-B14F-4D97-AF65-F5344CB8AC3E}">
        <p14:creationId xmlns:p14="http://schemas.microsoft.com/office/powerpoint/2010/main" val="110111932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CE20D13-5A8C-26A2-F661-B2AF9589FA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61" y="1545772"/>
            <a:ext cx="4497473" cy="22282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0CC1A4B-B6ED-0546-6200-2ECDC8EF3DD2}"/>
              </a:ext>
            </a:extLst>
          </p:cNvPr>
          <p:cNvSpPr txBox="1"/>
          <p:nvPr/>
        </p:nvSpPr>
        <p:spPr>
          <a:xfrm>
            <a:off x="1000369" y="1233100"/>
            <a:ext cx="2930175" cy="461665"/>
          </a:xfrm>
          <a:prstGeom prst="rect">
            <a:avLst/>
          </a:prstGeom>
          <a:solidFill>
            <a:schemeClr val="bg1"/>
          </a:solidFill>
        </p:spPr>
        <p:txBody>
          <a:bodyPr wrap="square" rtlCol="0">
            <a:spAutoFit/>
          </a:bodyPr>
          <a:lstStyle/>
          <a:p>
            <a:pPr algn="ctr"/>
            <a:r>
              <a:rPr lang="en-US" sz="1200" b="1" dirty="0">
                <a:solidFill>
                  <a:schemeClr val="tx1">
                    <a:lumMod val="65000"/>
                    <a:lumOff val="35000"/>
                  </a:schemeClr>
                </a:solidFill>
                <a:effectLst/>
                <a:latin typeface="Times New Roman" panose="02020603050405020304" pitchFamily="18" charset="0"/>
                <a:cs typeface="Times New Roman" panose="02020603050405020304" pitchFamily="18" charset="0"/>
              </a:rPr>
              <a:t>Actual vs Holt Winter Predicted Model (Next 2 Weeks)</a:t>
            </a:r>
          </a:p>
        </p:txBody>
      </p:sp>
      <p:sp>
        <p:nvSpPr>
          <p:cNvPr id="6" name="TextBox 5">
            <a:extLst>
              <a:ext uri="{FF2B5EF4-FFF2-40B4-BE49-F238E27FC236}">
                <a16:creationId xmlns:a16="http://schemas.microsoft.com/office/drawing/2014/main" id="{DED2EC5C-B93B-A9A2-7D2C-7DB356DB5414}"/>
              </a:ext>
            </a:extLst>
          </p:cNvPr>
          <p:cNvSpPr txBox="1"/>
          <p:nvPr/>
        </p:nvSpPr>
        <p:spPr>
          <a:xfrm>
            <a:off x="4008729" y="189327"/>
            <a:ext cx="4174541" cy="584775"/>
          </a:xfrm>
          <a:prstGeom prst="rect">
            <a:avLst/>
          </a:prstGeom>
          <a:noFill/>
        </p:spPr>
        <p:txBody>
          <a:bodyPr wrap="none" rtlCol="0">
            <a:spAutoFit/>
          </a:bodyPr>
          <a:lstStyle/>
          <a:p>
            <a:r>
              <a:rPr lang="en-US" sz="3200" b="1" dirty="0">
                <a:latin typeface="Times New Roman" panose="02020603050405020304" pitchFamily="18" charset="0"/>
                <a:cs typeface="Times New Roman" panose="02020603050405020304" pitchFamily="18" charset="0"/>
              </a:rPr>
              <a:t>Models &amp; Comparison</a:t>
            </a:r>
          </a:p>
        </p:txBody>
      </p:sp>
      <p:sp>
        <p:nvSpPr>
          <p:cNvPr id="7" name="TextBox 6">
            <a:extLst>
              <a:ext uri="{FF2B5EF4-FFF2-40B4-BE49-F238E27FC236}">
                <a16:creationId xmlns:a16="http://schemas.microsoft.com/office/drawing/2014/main" id="{D2DA7DA9-1BEA-2B35-4EE5-8078D34E00D5}"/>
              </a:ext>
            </a:extLst>
          </p:cNvPr>
          <p:cNvSpPr txBox="1"/>
          <p:nvPr/>
        </p:nvSpPr>
        <p:spPr>
          <a:xfrm>
            <a:off x="952032" y="4086682"/>
            <a:ext cx="1877437" cy="1192827"/>
          </a:xfrm>
          <a:prstGeom prst="rect">
            <a:avLst/>
          </a:prstGeom>
          <a:noFill/>
        </p:spPr>
        <p:txBody>
          <a:bodyPr wrap="none" rtlCol="0">
            <a:spAutoFit/>
          </a:bodyPr>
          <a:lstStyle/>
          <a:p>
            <a:pPr marL="285750" indent="-285750" algn="l">
              <a:lnSpc>
                <a:spcPct val="150000"/>
              </a:lnSpc>
              <a:spcBef>
                <a:spcPts val="75"/>
              </a:spcBef>
              <a:buFont typeface="Arial" panose="020B0604020202020204" pitchFamily="34" charset="0"/>
              <a:buChar char="•"/>
            </a:pPr>
            <a:r>
              <a:rPr lang="en-US" sz="1200" b="1" i="0" dirty="0">
                <a:solidFill>
                  <a:schemeClr val="bg2">
                    <a:lumMod val="50000"/>
                  </a:schemeClr>
                </a:solidFill>
                <a:effectLst/>
                <a:latin typeface="Times New Roman" panose="02020603050405020304" pitchFamily="18" charset="0"/>
                <a:cs typeface="Times New Roman" panose="02020603050405020304" pitchFamily="18" charset="0"/>
              </a:rPr>
              <a:t>MAE: 	2362.12 </a:t>
            </a:r>
          </a:p>
          <a:p>
            <a:pPr marL="285750" indent="-285750" algn="l">
              <a:lnSpc>
                <a:spcPct val="150000"/>
              </a:lnSpc>
              <a:spcBef>
                <a:spcPts val="75"/>
              </a:spcBef>
              <a:buFont typeface="Arial" panose="020B0604020202020204" pitchFamily="34" charset="0"/>
              <a:buChar char="•"/>
            </a:pPr>
            <a:r>
              <a:rPr lang="en-US" sz="1200" b="1" i="0" dirty="0">
                <a:solidFill>
                  <a:schemeClr val="bg2">
                    <a:lumMod val="50000"/>
                  </a:schemeClr>
                </a:solidFill>
                <a:effectLst/>
                <a:latin typeface="Times New Roman" panose="02020603050405020304" pitchFamily="18" charset="0"/>
                <a:cs typeface="Times New Roman" panose="02020603050405020304" pitchFamily="18" charset="0"/>
              </a:rPr>
              <a:t>RMSE: 	7108712.69 </a:t>
            </a:r>
          </a:p>
          <a:p>
            <a:pPr marL="285750" indent="-285750" algn="l">
              <a:lnSpc>
                <a:spcPct val="150000"/>
              </a:lnSpc>
              <a:spcBef>
                <a:spcPts val="75"/>
              </a:spcBef>
              <a:buFont typeface="Arial" panose="020B0604020202020204" pitchFamily="34" charset="0"/>
              <a:buChar char="•"/>
            </a:pPr>
            <a:r>
              <a:rPr lang="en-US" sz="1200" b="1" i="0" dirty="0">
                <a:solidFill>
                  <a:schemeClr val="bg2">
                    <a:lumMod val="50000"/>
                  </a:schemeClr>
                </a:solidFill>
                <a:effectLst/>
                <a:latin typeface="Times New Roman" panose="02020603050405020304" pitchFamily="18" charset="0"/>
                <a:cs typeface="Times New Roman" panose="02020603050405020304" pitchFamily="18" charset="0"/>
              </a:rPr>
              <a:t>R² Score:  0.0223</a:t>
            </a:r>
            <a:br>
              <a:rPr lang="en-US" sz="1200" b="1" dirty="0">
                <a:solidFill>
                  <a:schemeClr val="bg2">
                    <a:lumMod val="50000"/>
                  </a:schemeClr>
                </a:solidFill>
                <a:latin typeface="Times New Roman" panose="02020603050405020304" pitchFamily="18" charset="0"/>
                <a:cs typeface="Times New Roman" panose="02020603050405020304" pitchFamily="18" charset="0"/>
              </a:rPr>
            </a:br>
            <a:endParaRPr lang="en-US" sz="1200" b="1" dirty="0">
              <a:solidFill>
                <a:schemeClr val="bg2">
                  <a:lumMod val="50000"/>
                </a:schemeClr>
              </a:solidFill>
              <a:latin typeface="Times New Roman" panose="02020603050405020304" pitchFamily="18" charset="0"/>
              <a:cs typeface="Times New Roman" panose="02020603050405020304" pitchFamily="18" charset="0"/>
            </a:endParaRPr>
          </a:p>
        </p:txBody>
      </p:sp>
      <p:grpSp>
        <p:nvGrpSpPr>
          <p:cNvPr id="9" name="Group 8">
            <a:extLst>
              <a:ext uri="{FF2B5EF4-FFF2-40B4-BE49-F238E27FC236}">
                <a16:creationId xmlns:a16="http://schemas.microsoft.com/office/drawing/2014/main" id="{008BB742-F57F-4197-0ECF-D667FA084700}"/>
              </a:ext>
            </a:extLst>
          </p:cNvPr>
          <p:cNvGrpSpPr/>
          <p:nvPr/>
        </p:nvGrpSpPr>
        <p:grpSpPr>
          <a:xfrm>
            <a:off x="4472912" y="1233100"/>
            <a:ext cx="7772400" cy="4151281"/>
            <a:chOff x="0" y="1160886"/>
            <a:chExt cx="7772400" cy="4151281"/>
          </a:xfrm>
        </p:grpSpPr>
        <p:pic>
          <p:nvPicPr>
            <p:cNvPr id="10" name="Picture 9">
              <a:extLst>
                <a:ext uri="{FF2B5EF4-FFF2-40B4-BE49-F238E27FC236}">
                  <a16:creationId xmlns:a16="http://schemas.microsoft.com/office/drawing/2014/main" id="{CB7724CF-D315-940B-E926-6033B5B4013D}"/>
                </a:ext>
              </a:extLst>
            </p:cNvPr>
            <p:cNvPicPr>
              <a:picLocks noChangeAspect="1"/>
            </p:cNvPicPr>
            <p:nvPr/>
          </p:nvPicPr>
          <p:blipFill>
            <a:blip r:embed="rId4"/>
            <a:stretch>
              <a:fillRect/>
            </a:stretch>
          </p:blipFill>
          <p:spPr>
            <a:xfrm>
              <a:off x="0" y="1160886"/>
              <a:ext cx="7772400" cy="2645783"/>
            </a:xfrm>
            <a:prstGeom prst="rect">
              <a:avLst/>
            </a:prstGeom>
          </p:spPr>
        </p:pic>
        <p:sp>
          <p:nvSpPr>
            <p:cNvPr id="11" name="TextBox 10">
              <a:extLst>
                <a:ext uri="{FF2B5EF4-FFF2-40B4-BE49-F238E27FC236}">
                  <a16:creationId xmlns:a16="http://schemas.microsoft.com/office/drawing/2014/main" id="{CAF9104F-D17A-0AA0-B2AD-9C5D03E6F53E}"/>
                </a:ext>
              </a:extLst>
            </p:cNvPr>
            <p:cNvSpPr txBox="1"/>
            <p:nvPr/>
          </p:nvSpPr>
          <p:spPr>
            <a:xfrm>
              <a:off x="1001624" y="4119338"/>
              <a:ext cx="2736556" cy="1192827"/>
            </a:xfrm>
            <a:prstGeom prst="rect">
              <a:avLst/>
            </a:prstGeom>
            <a:noFill/>
          </p:spPr>
          <p:txBody>
            <a:bodyPr wrap="square" rtlCol="0">
              <a:spAutoFit/>
            </a:bodyPr>
            <a:lstStyle/>
            <a:p>
              <a:pPr marL="285750" indent="-285750" algn="l">
                <a:lnSpc>
                  <a:spcPct val="150000"/>
                </a:lnSpc>
                <a:spcBef>
                  <a:spcPts val="75"/>
                </a:spcBef>
                <a:buFont typeface="Arial" panose="020B0604020202020204" pitchFamily="34" charset="0"/>
                <a:buChar char="•"/>
              </a:pPr>
              <a:r>
                <a:rPr lang="en-US" sz="1200" b="1" i="0" dirty="0">
                  <a:solidFill>
                    <a:schemeClr val="bg2">
                      <a:lumMod val="50000"/>
                    </a:schemeClr>
                  </a:solidFill>
                  <a:effectLst/>
                  <a:latin typeface="Times New Roman" panose="02020603050405020304" pitchFamily="18" charset="0"/>
                  <a:cs typeface="Times New Roman" panose="02020603050405020304" pitchFamily="18" charset="0"/>
                </a:rPr>
                <a:t>MAE: 	757.4534 </a:t>
              </a:r>
            </a:p>
            <a:p>
              <a:pPr marL="285750" indent="-285750" algn="l">
                <a:lnSpc>
                  <a:spcPct val="150000"/>
                </a:lnSpc>
                <a:spcBef>
                  <a:spcPts val="75"/>
                </a:spcBef>
                <a:buFont typeface="Arial" panose="020B0604020202020204" pitchFamily="34" charset="0"/>
                <a:buChar char="•"/>
              </a:pPr>
              <a:r>
                <a:rPr lang="en-US" sz="1200" b="1" i="0" dirty="0">
                  <a:solidFill>
                    <a:schemeClr val="bg2">
                      <a:lumMod val="50000"/>
                    </a:schemeClr>
                  </a:solidFill>
                  <a:effectLst/>
                  <a:latin typeface="Times New Roman" panose="02020603050405020304" pitchFamily="18" charset="0"/>
                  <a:cs typeface="Times New Roman" panose="02020603050405020304" pitchFamily="18" charset="0"/>
                </a:rPr>
                <a:t>RMSE: 	832.6412 </a:t>
              </a:r>
            </a:p>
            <a:p>
              <a:pPr marL="285750" indent="-285750" algn="l">
                <a:lnSpc>
                  <a:spcPct val="150000"/>
                </a:lnSpc>
                <a:spcBef>
                  <a:spcPts val="75"/>
                </a:spcBef>
                <a:buFont typeface="Arial" panose="020B0604020202020204" pitchFamily="34" charset="0"/>
                <a:buChar char="•"/>
              </a:pPr>
              <a:r>
                <a:rPr lang="en-US" sz="1200" b="1" i="0" dirty="0">
                  <a:solidFill>
                    <a:schemeClr val="bg2">
                      <a:lumMod val="50000"/>
                    </a:schemeClr>
                  </a:solidFill>
                  <a:effectLst/>
                  <a:latin typeface="Times New Roman" panose="02020603050405020304" pitchFamily="18" charset="0"/>
                  <a:cs typeface="Times New Roman" panose="02020603050405020304" pitchFamily="18" charset="0"/>
                </a:rPr>
                <a:t>R² Score:  0.7086</a:t>
              </a:r>
              <a:br>
                <a:rPr lang="en-US" sz="1200" b="1" dirty="0">
                  <a:solidFill>
                    <a:schemeClr val="bg2">
                      <a:lumMod val="50000"/>
                    </a:schemeClr>
                  </a:solidFill>
                  <a:latin typeface="Times New Roman" panose="02020603050405020304" pitchFamily="18" charset="0"/>
                  <a:cs typeface="Times New Roman" panose="02020603050405020304" pitchFamily="18" charset="0"/>
                </a:rPr>
              </a:br>
              <a:endParaRPr lang="en-US" sz="1200" b="1"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2D9FA42-FD9A-3683-5823-5584E532EABB}"/>
                </a:ext>
              </a:extLst>
            </p:cNvPr>
            <p:cNvSpPr txBox="1"/>
            <p:nvPr/>
          </p:nvSpPr>
          <p:spPr>
            <a:xfrm>
              <a:off x="4823857" y="4119340"/>
              <a:ext cx="1675908" cy="1192827"/>
            </a:xfrm>
            <a:prstGeom prst="rect">
              <a:avLst/>
            </a:prstGeom>
            <a:noFill/>
          </p:spPr>
          <p:txBody>
            <a:bodyPr wrap="none" rtlCol="0">
              <a:spAutoFit/>
            </a:bodyPr>
            <a:lstStyle/>
            <a:p>
              <a:pPr marL="285750" indent="-285750" algn="l">
                <a:lnSpc>
                  <a:spcPct val="150000"/>
                </a:lnSpc>
                <a:spcBef>
                  <a:spcPts val="75"/>
                </a:spcBef>
                <a:buFont typeface="Arial" panose="020B0604020202020204" pitchFamily="34" charset="0"/>
                <a:buChar char="•"/>
              </a:pPr>
              <a:r>
                <a:rPr lang="en-US" sz="1200" b="1" i="0" dirty="0">
                  <a:solidFill>
                    <a:schemeClr val="bg2">
                      <a:lumMod val="50000"/>
                    </a:schemeClr>
                  </a:solidFill>
                  <a:effectLst/>
                  <a:latin typeface="Times New Roman" panose="02020603050405020304" pitchFamily="18" charset="0"/>
                  <a:cs typeface="Times New Roman" panose="02020603050405020304" pitchFamily="18" charset="0"/>
                </a:rPr>
                <a:t>MAE: 	1613.61 </a:t>
              </a:r>
            </a:p>
            <a:p>
              <a:pPr marL="285750" indent="-285750" algn="l">
                <a:lnSpc>
                  <a:spcPct val="150000"/>
                </a:lnSpc>
                <a:spcBef>
                  <a:spcPts val="75"/>
                </a:spcBef>
                <a:buFont typeface="Arial" panose="020B0604020202020204" pitchFamily="34" charset="0"/>
                <a:buChar char="•"/>
              </a:pPr>
              <a:r>
                <a:rPr lang="en-US" sz="1200" b="1" i="0" dirty="0">
                  <a:solidFill>
                    <a:schemeClr val="bg2">
                      <a:lumMod val="50000"/>
                    </a:schemeClr>
                  </a:solidFill>
                  <a:effectLst/>
                  <a:latin typeface="Times New Roman" panose="02020603050405020304" pitchFamily="18" charset="0"/>
                  <a:cs typeface="Times New Roman" panose="02020603050405020304" pitchFamily="18" charset="0"/>
                </a:rPr>
                <a:t>RMSE: 	1905.58 </a:t>
              </a:r>
            </a:p>
            <a:p>
              <a:pPr marL="285750" indent="-285750" algn="l">
                <a:lnSpc>
                  <a:spcPct val="150000"/>
                </a:lnSpc>
                <a:spcBef>
                  <a:spcPts val="75"/>
                </a:spcBef>
                <a:buFont typeface="Arial" panose="020B0604020202020204" pitchFamily="34" charset="0"/>
                <a:buChar char="•"/>
              </a:pPr>
              <a:r>
                <a:rPr lang="en-US" sz="1200" b="1" i="0" dirty="0">
                  <a:solidFill>
                    <a:schemeClr val="bg2">
                      <a:lumMod val="50000"/>
                    </a:schemeClr>
                  </a:solidFill>
                  <a:effectLst/>
                  <a:latin typeface="Times New Roman" panose="02020603050405020304" pitchFamily="18" charset="0"/>
                  <a:cs typeface="Times New Roman" panose="02020603050405020304" pitchFamily="18" charset="0"/>
                </a:rPr>
                <a:t>R² Score:  0.1533</a:t>
              </a:r>
              <a:br>
                <a:rPr lang="en-US" sz="1200" b="1" dirty="0">
                  <a:solidFill>
                    <a:schemeClr val="bg2">
                      <a:lumMod val="50000"/>
                    </a:schemeClr>
                  </a:solidFill>
                  <a:latin typeface="Times New Roman" panose="02020603050405020304" pitchFamily="18" charset="0"/>
                  <a:cs typeface="Times New Roman" panose="02020603050405020304" pitchFamily="18" charset="0"/>
                </a:rPr>
              </a:br>
              <a:endParaRPr lang="en-US" sz="1200" b="1" dirty="0">
                <a:solidFill>
                  <a:schemeClr val="bg2">
                    <a:lumMod val="50000"/>
                  </a:schemeClr>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30841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F692147-D047-CD79-7859-E538EB822596}"/>
              </a:ext>
            </a:extLst>
          </p:cNvPr>
          <p:cNvSpPr txBox="1"/>
          <p:nvPr/>
        </p:nvSpPr>
        <p:spPr>
          <a:xfrm>
            <a:off x="0" y="51641"/>
            <a:ext cx="4037835" cy="3387497"/>
          </a:xfrm>
          <a:prstGeom prst="rect">
            <a:avLst/>
          </a:prstGeom>
        </p:spPr>
        <p:txBody>
          <a:bodyPr vert="horz" lIns="91440" tIns="45720" rIns="91440" bIns="45720" rtlCol="0" anchor="b">
            <a:normAutofit/>
          </a:bodyPr>
          <a:lstStyle/>
          <a:p>
            <a:pPr algn="ctr">
              <a:lnSpc>
                <a:spcPct val="110000"/>
              </a:lnSpc>
              <a:spcBef>
                <a:spcPct val="0"/>
              </a:spcBef>
              <a:spcAft>
                <a:spcPts val="600"/>
              </a:spcAft>
            </a:pPr>
            <a:r>
              <a:rPr lang="en-US" sz="4800" b="1" kern="1200" dirty="0">
                <a:solidFill>
                  <a:srgbClr val="FFFFFF"/>
                </a:solidFill>
                <a:latin typeface="Times New Roman" panose="02020603050405020304" pitchFamily="18" charset="0"/>
                <a:ea typeface="+mj-ea"/>
                <a:cs typeface="Times New Roman" panose="02020603050405020304" pitchFamily="18" charset="0"/>
              </a:rPr>
              <a:t>Summary</a:t>
            </a:r>
          </a:p>
        </p:txBody>
      </p:sp>
      <p:sp>
        <p:nvSpPr>
          <p:cNvPr id="6" name="TextBox 5">
            <a:extLst>
              <a:ext uri="{FF2B5EF4-FFF2-40B4-BE49-F238E27FC236}">
                <a16:creationId xmlns:a16="http://schemas.microsoft.com/office/drawing/2014/main" id="{16B69B28-6F97-2DEE-C96E-91B19203A731}"/>
              </a:ext>
            </a:extLst>
          </p:cNvPr>
          <p:cNvSpPr txBox="1"/>
          <p:nvPr/>
        </p:nvSpPr>
        <p:spPr>
          <a:xfrm>
            <a:off x="4134811" y="1234104"/>
            <a:ext cx="7828589" cy="41742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600" dirty="0">
                <a:latin typeface="Times New Roman" panose="02020603050405020304" pitchFamily="18" charset="0"/>
                <a:cs typeface="Times New Roman" panose="02020603050405020304" pitchFamily="18" charset="0"/>
              </a:rPr>
              <a:t>Linear Regression was chosen here.</a:t>
            </a:r>
            <a:endParaRPr lang="en-US" sz="16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33260E5-F751-4B4F-85F7-F13B963453E5}"/>
              </a:ext>
            </a:extLst>
          </p:cNvPr>
          <p:cNvSpPr txBox="1"/>
          <p:nvPr/>
        </p:nvSpPr>
        <p:spPr>
          <a:xfrm>
            <a:off x="4134810" y="4772192"/>
            <a:ext cx="7706671" cy="152541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Compare</a:t>
            </a: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more time series models</a:t>
            </a:r>
            <a:r>
              <a:rPr lang="en-US" sz="1600" dirty="0">
                <a:latin typeface="Times New Roman" panose="02020603050405020304" pitchFamily="18" charset="0"/>
                <a:cs typeface="Times New Roman" panose="02020603050405020304" pitchFamily="18" charset="0"/>
              </a:rPr>
              <a:t> to evaluate predictive performance.</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 cross-validation techniques to ensure robustness and avoid overfitting.</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Adding more detailed variables to improve model accuracy, e.g. specific holiday names, event data.</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57FBCFA-7E93-8EC6-EB25-380B753D3ADF}"/>
              </a:ext>
            </a:extLst>
          </p:cNvPr>
          <p:cNvSpPr txBox="1"/>
          <p:nvPr/>
        </p:nvSpPr>
        <p:spPr>
          <a:xfrm>
            <a:off x="4134810" y="4300430"/>
            <a:ext cx="10429595" cy="458011"/>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Suggestions</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439178C-AED2-7F82-63AC-5B3237F0D7DA}"/>
              </a:ext>
            </a:extLst>
          </p:cNvPr>
          <p:cNvSpPr txBox="1"/>
          <p:nvPr/>
        </p:nvSpPr>
        <p:spPr>
          <a:xfrm>
            <a:off x="4134810" y="776093"/>
            <a:ext cx="5187036" cy="458011"/>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Model Selection</a:t>
            </a:r>
            <a:endParaRPr lang="en-US" b="1" dirty="0">
              <a:solidFill>
                <a:schemeClr val="bg1"/>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2F84F9B-AD1C-C86E-7156-BAA4CDB79B1C}"/>
              </a:ext>
            </a:extLst>
          </p:cNvPr>
          <p:cNvSpPr txBox="1"/>
          <p:nvPr/>
        </p:nvSpPr>
        <p:spPr>
          <a:xfrm>
            <a:off x="4134811" y="2091441"/>
            <a:ext cx="7706670" cy="226408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 weather forecasts to prepare in advance to reduce cost, e.g. increase bike availability during clear weekends and reduce staffing or reallocate bikes on rainy days.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Offer discounts or scale back bike availability during extreme hot or cold seasons.</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Schedule bike maintenance during seasonal lows, like winter, to avoid disrupting peak usage.</a:t>
            </a: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Shift bikes to office zones during workdays, where commuting demand is higher.</a:t>
            </a:r>
          </a:p>
        </p:txBody>
      </p:sp>
      <p:sp>
        <p:nvSpPr>
          <p:cNvPr id="16" name="TextBox 15">
            <a:extLst>
              <a:ext uri="{FF2B5EF4-FFF2-40B4-BE49-F238E27FC236}">
                <a16:creationId xmlns:a16="http://schemas.microsoft.com/office/drawing/2014/main" id="{80BD66ED-4898-265C-9FC6-C1EB6DC9A5AB}"/>
              </a:ext>
            </a:extLst>
          </p:cNvPr>
          <p:cNvSpPr txBox="1"/>
          <p:nvPr/>
        </p:nvSpPr>
        <p:spPr>
          <a:xfrm>
            <a:off x="4134810" y="1633430"/>
            <a:ext cx="3180390" cy="458011"/>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Application Analysis</a:t>
            </a:r>
            <a:endParaRPr lang="en-US"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00077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6187</TotalTime>
  <Words>898</Words>
  <Application>Microsoft Macintosh PowerPoint</Application>
  <PresentationFormat>Widescreen</PresentationFormat>
  <Paragraphs>106</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Times New Roman</vt:lpstr>
      <vt:lpstr>Office Theme</vt:lpstr>
      <vt:lpstr>Dataset Description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Ruocheng Jiang</dc:creator>
  <cp:lastModifiedBy>Ruocheng Jiang</cp:lastModifiedBy>
  <cp:revision>75</cp:revision>
  <dcterms:created xsi:type="dcterms:W3CDTF">2025-04-15T19:09:23Z</dcterms:created>
  <dcterms:modified xsi:type="dcterms:W3CDTF">2025-12-01T04:23:01Z</dcterms:modified>
</cp:coreProperties>
</file>